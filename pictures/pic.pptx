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</p:sldIdLst>
  <p:sldSz cx="12192000" cy="6858000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5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5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gs" Target="tags/tag4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3.xml"/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9" name="组合 48"/>
          <p:cNvGrpSpPr/>
          <p:nvPr/>
        </p:nvGrpSpPr>
        <p:grpSpPr>
          <a:xfrm>
            <a:off x="1225550" y="0"/>
            <a:ext cx="10289540" cy="7363460"/>
            <a:chOff x="1930" y="0"/>
            <a:chExt cx="16204" cy="11596"/>
          </a:xfrm>
        </p:grpSpPr>
        <p:sp>
          <p:nvSpPr>
            <p:cNvPr id="4" name="矩形 3"/>
            <p:cNvSpPr/>
            <p:nvPr/>
          </p:nvSpPr>
          <p:spPr>
            <a:xfrm>
              <a:off x="7008" y="0"/>
              <a:ext cx="5669" cy="5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输入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Github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仓库链接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7008" y="5373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Core Metric Selector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 </a:t>
              </a:r>
              <a:endParaRPr lang="en-US" alt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根据项目类型筛选关键指标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008" y="1131"/>
              <a:ext cx="5669" cy="85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Supervisor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调度各个任务节点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008" y="2545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Project Parser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提取项目基础信息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grpSp>
          <p:nvGrpSpPr>
            <p:cNvPr id="29" name="组合 28"/>
            <p:cNvGrpSpPr/>
            <p:nvPr/>
          </p:nvGrpSpPr>
          <p:grpSpPr>
            <a:xfrm rot="0">
              <a:off x="3411" y="3959"/>
              <a:ext cx="12864" cy="850"/>
              <a:chOff x="3497" y="3959"/>
              <a:chExt cx="12864" cy="850"/>
            </a:xfrm>
          </p:grpSpPr>
          <p:sp>
            <p:nvSpPr>
              <p:cNvPr id="8" name="矩形 7"/>
              <p:cNvSpPr/>
              <p:nvPr/>
            </p:nvSpPr>
            <p:spPr>
              <a:xfrm>
                <a:off x="3497" y="3959"/>
                <a:ext cx="5669" cy="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500" b="1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Type Classifier Agent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：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判断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开源项目类型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10693" y="3959"/>
                <a:ext cx="5669" cy="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500" b="1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Metric Collector Agent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：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调用接口获取指标数据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7008" y="6787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RAG Retrieval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从知识库中检索指标的定义和适用场景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7008" y="8201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Evaluation Judge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结合指标结果和定义生成评估报告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7008" y="9615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Quality Guard Agent</a:t>
              </a:r>
              <a:r>
                <a:rPr 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一致性检查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7008" y="11030"/>
              <a:ext cx="5669" cy="5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输出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仓库评估报告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16" name="直接箭头连接符 15"/>
            <p:cNvCxnSpPr>
              <a:stCxn id="4" idx="2"/>
              <a:endCxn id="5" idx="0"/>
            </p:cNvCxnSpPr>
            <p:nvPr/>
          </p:nvCxnSpPr>
          <p:spPr>
            <a:xfrm>
              <a:off x="9843" y="567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7" name="直接箭头连接符 16"/>
            <p:cNvCxnSpPr>
              <a:stCxn id="9" idx="2"/>
              <a:endCxn id="11" idx="0"/>
            </p:cNvCxnSpPr>
            <p:nvPr/>
          </p:nvCxnSpPr>
          <p:spPr>
            <a:xfrm>
              <a:off x="9843" y="6223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" name="直接箭头连接符 17"/>
            <p:cNvCxnSpPr>
              <a:stCxn id="11" idx="2"/>
              <a:endCxn id="12" idx="0"/>
            </p:cNvCxnSpPr>
            <p:nvPr/>
          </p:nvCxnSpPr>
          <p:spPr>
            <a:xfrm>
              <a:off x="9843" y="7637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" name="直接箭头连接符 18"/>
            <p:cNvCxnSpPr>
              <a:stCxn id="12" idx="2"/>
              <a:endCxn id="13" idx="0"/>
            </p:cNvCxnSpPr>
            <p:nvPr/>
          </p:nvCxnSpPr>
          <p:spPr>
            <a:xfrm>
              <a:off x="9843" y="9051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0" name="直接箭头连接符 19"/>
            <p:cNvCxnSpPr>
              <a:stCxn id="13" idx="2"/>
              <a:endCxn id="15" idx="0"/>
            </p:cNvCxnSpPr>
            <p:nvPr/>
          </p:nvCxnSpPr>
          <p:spPr>
            <a:xfrm>
              <a:off x="9843" y="10465"/>
              <a:ext cx="0" cy="5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1" name="肘形连接符 20"/>
            <p:cNvCxnSpPr>
              <a:stCxn id="7" idx="2"/>
              <a:endCxn id="8" idx="0"/>
            </p:cNvCxnSpPr>
            <p:nvPr/>
          </p:nvCxnSpPr>
          <p:spPr>
            <a:xfrm rot="5400000">
              <a:off x="7762" y="1878"/>
              <a:ext cx="564" cy="3598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2" name="肘形连接符 21"/>
            <p:cNvCxnSpPr>
              <a:stCxn id="7" idx="2"/>
              <a:endCxn id="10" idx="0"/>
            </p:cNvCxnSpPr>
            <p:nvPr/>
          </p:nvCxnSpPr>
          <p:spPr>
            <a:xfrm rot="5400000" flipV="1">
              <a:off x="11361" y="1878"/>
              <a:ext cx="564" cy="3599"/>
            </a:xfrm>
            <a:prstGeom prst="bentConnector3">
              <a:avLst>
                <a:gd name="adj1" fmla="val 4991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" name="直接箭头连接符 22"/>
            <p:cNvCxnSpPr>
              <a:stCxn id="5" idx="2"/>
              <a:endCxn id="7" idx="0"/>
            </p:cNvCxnSpPr>
            <p:nvPr/>
          </p:nvCxnSpPr>
          <p:spPr>
            <a:xfrm>
              <a:off x="9843" y="1981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4" name="肘形连接符 23"/>
            <p:cNvCxnSpPr>
              <a:stCxn id="8" idx="2"/>
              <a:endCxn id="9" idx="0"/>
            </p:cNvCxnSpPr>
            <p:nvPr/>
          </p:nvCxnSpPr>
          <p:spPr>
            <a:xfrm rot="5400000" flipV="1">
              <a:off x="7762" y="3292"/>
              <a:ext cx="564" cy="3598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5" name="肘形连接符 24"/>
            <p:cNvCxnSpPr>
              <a:stCxn id="10" idx="2"/>
              <a:endCxn id="9" idx="0"/>
            </p:cNvCxnSpPr>
            <p:nvPr/>
          </p:nvCxnSpPr>
          <p:spPr>
            <a:xfrm rot="5400000">
              <a:off x="11361" y="3292"/>
              <a:ext cx="564" cy="3599"/>
            </a:xfrm>
            <a:prstGeom prst="bentConnector3">
              <a:avLst>
                <a:gd name="adj1" fmla="val 4991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1" name="肘形连接符 30"/>
            <p:cNvCxnSpPr>
              <a:stCxn id="13" idx="1"/>
              <a:endCxn id="5" idx="1"/>
            </p:cNvCxnSpPr>
            <p:nvPr/>
          </p:nvCxnSpPr>
          <p:spPr>
            <a:xfrm rot="10800000" flipH="1">
              <a:off x="7008" y="1556"/>
              <a:ext cx="5" cy="8484"/>
            </a:xfrm>
            <a:prstGeom prst="bentConnector3">
              <a:avLst>
                <a:gd name="adj1" fmla="val -9258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2" name="文本框 31"/>
            <p:cNvSpPr txBox="1"/>
            <p:nvPr/>
          </p:nvSpPr>
          <p:spPr>
            <a:xfrm>
              <a:off x="9388" y="10617"/>
              <a:ext cx="909" cy="26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1200" b="1">
                  <a:latin typeface="Times New Roman" panose="02020603050405020304" charset="0"/>
                  <a:cs typeface="Times New Roman" panose="02020603050405020304" charset="0"/>
                </a:rPr>
                <a:t>PASS</a:t>
              </a:r>
              <a:endParaRPr lang="en-US" altLang="zh-CN" sz="1200" b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1930" y="5677"/>
              <a:ext cx="909" cy="26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1200" b="1">
                  <a:latin typeface="Times New Roman" panose="02020603050405020304" charset="0"/>
                  <a:cs typeface="Times New Roman" panose="02020603050405020304" charset="0"/>
                </a:rPr>
                <a:t>FAIL</a:t>
              </a:r>
              <a:endParaRPr lang="en-US" altLang="zh-CN" sz="1200" b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7" name="流程图: 磁盘 36"/>
            <p:cNvSpPr/>
            <p:nvPr/>
          </p:nvSpPr>
          <p:spPr>
            <a:xfrm>
              <a:off x="3181" y="6683"/>
              <a:ext cx="1943" cy="1058"/>
            </a:xfrm>
            <a:prstGeom prst="flowChartMagneticDisk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知识库</a:t>
              </a:r>
              <a:endParaRPr lang="zh-CN" altLang="en-US" sz="15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cxnSp>
          <p:nvCxnSpPr>
            <p:cNvPr id="38" name="直接箭头连接符 37"/>
            <p:cNvCxnSpPr>
              <a:stCxn id="11" idx="1"/>
              <a:endCxn id="37" idx="4"/>
            </p:cNvCxnSpPr>
            <p:nvPr/>
          </p:nvCxnSpPr>
          <p:spPr>
            <a:xfrm flipH="1">
              <a:off x="5124" y="7212"/>
              <a:ext cx="188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" name="矩形 38"/>
            <p:cNvSpPr/>
            <p:nvPr/>
          </p:nvSpPr>
          <p:spPr>
            <a:xfrm>
              <a:off x="17040" y="1130"/>
              <a:ext cx="1094" cy="79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Redis</a:t>
              </a:r>
              <a:endParaRPr lang="en-US" altLang="zh-CN" sz="15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40" name="直接箭头连接符 39"/>
            <p:cNvCxnSpPr>
              <a:endCxn id="10" idx="3"/>
            </p:cNvCxnSpPr>
            <p:nvPr/>
          </p:nvCxnSpPr>
          <p:spPr>
            <a:xfrm flipH="1" flipV="1">
              <a:off x="16276" y="4384"/>
              <a:ext cx="77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1" name="直接箭头连接符 40"/>
            <p:cNvCxnSpPr>
              <a:endCxn id="5" idx="3"/>
            </p:cNvCxnSpPr>
            <p:nvPr/>
          </p:nvCxnSpPr>
          <p:spPr>
            <a:xfrm flipH="1" flipV="1">
              <a:off x="12677" y="1556"/>
              <a:ext cx="436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>
              <a:endCxn id="12" idx="3"/>
            </p:cNvCxnSpPr>
            <p:nvPr/>
          </p:nvCxnSpPr>
          <p:spPr>
            <a:xfrm flipH="1">
              <a:off x="12677" y="8594"/>
              <a:ext cx="436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" name="文本框 43"/>
            <p:cNvSpPr txBox="1"/>
            <p:nvPr/>
          </p:nvSpPr>
          <p:spPr>
            <a:xfrm>
              <a:off x="14173" y="1117"/>
              <a:ext cx="1457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Agent</a:t>
              </a:r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状态</a:t>
              </a:r>
              <a:endParaRPr lang="zh-CN" altLang="en-US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16408" y="3731"/>
              <a:ext cx="511" cy="13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指标</a:t>
              </a:r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缓存</a:t>
              </a:r>
              <a:endParaRPr lang="zh-CN" altLang="en-US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4173" y="8151"/>
              <a:ext cx="1457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历史报告</a:t>
              </a:r>
              <a:endParaRPr lang="zh-CN" altLang="en-US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13758" y="2156"/>
              <a:ext cx="2650" cy="123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API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GitHub API</a:t>
              </a:r>
              <a:endParaRPr lang="en-US" alt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OpenDigger API</a:t>
              </a:r>
              <a:endParaRPr lang="en-US" alt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48" name="直接箭头连接符 47"/>
            <p:cNvCxnSpPr>
              <a:endCxn id="47" idx="2"/>
            </p:cNvCxnSpPr>
            <p:nvPr/>
          </p:nvCxnSpPr>
          <p:spPr>
            <a:xfrm flipH="1" flipV="1">
              <a:off x="15083" y="3395"/>
              <a:ext cx="1" cy="576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1" name="组合 90"/>
          <p:cNvGrpSpPr/>
          <p:nvPr/>
        </p:nvGrpSpPr>
        <p:grpSpPr>
          <a:xfrm>
            <a:off x="2112645" y="-711835"/>
            <a:ext cx="11186160" cy="10147300"/>
            <a:chOff x="3327" y="-1121"/>
            <a:chExt cx="17616" cy="15980"/>
          </a:xfrm>
        </p:grpSpPr>
        <p:sp>
          <p:nvSpPr>
            <p:cNvPr id="4" name="矩形 3"/>
            <p:cNvSpPr/>
            <p:nvPr/>
          </p:nvSpPr>
          <p:spPr>
            <a:xfrm>
              <a:off x="7008" y="-1121"/>
              <a:ext cx="5669" cy="5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输入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Github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仓库链接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16" name="直接箭头连接符 15"/>
            <p:cNvCxnSpPr>
              <a:stCxn id="4" idx="2"/>
              <a:endCxn id="2" idx="0"/>
            </p:cNvCxnSpPr>
            <p:nvPr/>
          </p:nvCxnSpPr>
          <p:spPr>
            <a:xfrm>
              <a:off x="9843" y="-554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" name="矩形 1"/>
            <p:cNvSpPr/>
            <p:nvPr/>
          </p:nvSpPr>
          <p:spPr>
            <a:xfrm>
              <a:off x="7008" y="10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Project Parser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提取项目基础信息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3" name="矩形 2"/>
            <p:cNvSpPr/>
            <p:nvPr/>
          </p:nvSpPr>
          <p:spPr>
            <a:xfrm>
              <a:off x="7008" y="1424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rPr>
                <a:t>Type Classifier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rPr>
                <a:t>判断开源项目类型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6" name="直接箭头连接符 5"/>
            <p:cNvCxnSpPr>
              <a:stCxn id="2" idx="2"/>
              <a:endCxn id="3" idx="0"/>
            </p:cNvCxnSpPr>
            <p:nvPr/>
          </p:nvCxnSpPr>
          <p:spPr>
            <a:xfrm>
              <a:off x="9843" y="860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" name="矩形 13"/>
            <p:cNvSpPr/>
            <p:nvPr/>
          </p:nvSpPr>
          <p:spPr>
            <a:xfrm>
              <a:off x="7008" y="2838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Metric Collector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调用接口获取指标数据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26" name="直接箭头连接符 25"/>
            <p:cNvCxnSpPr>
              <a:stCxn id="3" idx="2"/>
              <a:endCxn id="14" idx="0"/>
            </p:cNvCxnSpPr>
            <p:nvPr/>
          </p:nvCxnSpPr>
          <p:spPr>
            <a:xfrm>
              <a:off x="9843" y="2274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7" name="矩形 26"/>
            <p:cNvSpPr/>
            <p:nvPr/>
          </p:nvSpPr>
          <p:spPr>
            <a:xfrm>
              <a:off x="7008" y="4252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Core Metric Selector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 </a:t>
              </a:r>
              <a:endParaRPr lang="en-US" alt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根据项目类型筛选关键指标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28" name="直接箭头连接符 27"/>
            <p:cNvCxnSpPr>
              <a:stCxn id="14" idx="2"/>
              <a:endCxn id="27" idx="0"/>
            </p:cNvCxnSpPr>
            <p:nvPr/>
          </p:nvCxnSpPr>
          <p:spPr>
            <a:xfrm>
              <a:off x="9843" y="3688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0" name="矩形 29"/>
            <p:cNvSpPr/>
            <p:nvPr/>
          </p:nvSpPr>
          <p:spPr>
            <a:xfrm>
              <a:off x="7008" y="5666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RAG Retrieval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从知识库中检索指标的定义和适用场景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34" name="直接箭头连接符 33"/>
            <p:cNvCxnSpPr>
              <a:stCxn id="27" idx="2"/>
              <a:endCxn id="30" idx="0"/>
            </p:cNvCxnSpPr>
            <p:nvPr/>
          </p:nvCxnSpPr>
          <p:spPr>
            <a:xfrm>
              <a:off x="9843" y="5102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4" name="直接箭头连接符 53"/>
            <p:cNvCxnSpPr/>
            <p:nvPr/>
          </p:nvCxnSpPr>
          <p:spPr>
            <a:xfrm flipH="1">
              <a:off x="9843" y="9202"/>
              <a:ext cx="1" cy="70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74" name="组合 73"/>
            <p:cNvGrpSpPr/>
            <p:nvPr/>
          </p:nvGrpSpPr>
          <p:grpSpPr>
            <a:xfrm>
              <a:off x="3328" y="6516"/>
              <a:ext cx="13032" cy="2686"/>
              <a:chOff x="3328" y="6516"/>
              <a:chExt cx="13032" cy="2686"/>
            </a:xfrm>
          </p:grpSpPr>
          <p:cxnSp>
            <p:nvCxnSpPr>
              <p:cNvPr id="36" name="直接箭头连接符 35"/>
              <p:cNvCxnSpPr>
                <a:stCxn id="30" idx="2"/>
                <a:endCxn id="35" idx="0"/>
              </p:cNvCxnSpPr>
              <p:nvPr/>
            </p:nvCxnSpPr>
            <p:spPr>
              <a:xfrm>
                <a:off x="9843" y="6516"/>
                <a:ext cx="1" cy="5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35" name="矩形 34"/>
              <p:cNvSpPr/>
              <p:nvPr/>
            </p:nvSpPr>
            <p:spPr>
              <a:xfrm>
                <a:off x="3328" y="7080"/>
                <a:ext cx="13032" cy="21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500" b="1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Report Generator </a:t>
                </a:r>
                <a:r>
                  <a:rPr lang="en-US" altLang="zh-CN" sz="1500" b="1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  <a:sym typeface="+mn-ea"/>
                  </a:rPr>
                  <a:t>Agent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  <a:sym typeface="+mn-ea"/>
                  </a:rPr>
                  <a:t>：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endParaRPr>
              </a:p>
              <a:p>
                <a:pPr algn="ctr"/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endParaRPr>
              </a:p>
              <a:p>
                <a:pPr algn="ctr"/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endParaRPr>
              </a:p>
              <a:p>
                <a:pPr algn="ctr"/>
                <a:endPara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  <a:p>
                <a:pPr algn="ctr"/>
                <a:endPara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</p:txBody>
          </p:sp>
          <p:sp>
            <p:nvSpPr>
              <p:cNvPr id="50" name="矩形 49"/>
              <p:cNvSpPr/>
              <p:nvPr/>
            </p:nvSpPr>
            <p:spPr>
              <a:xfrm>
                <a:off x="10176" y="7743"/>
                <a:ext cx="5669" cy="116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500" b="1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LLM Report Generator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：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基于规则报告、指标、上下文、评审反馈和修复计划，生成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候选评估报告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</p:txBody>
          </p:sp>
          <p:cxnSp>
            <p:nvCxnSpPr>
              <p:cNvPr id="58" name="直接箭头连接符 57"/>
              <p:cNvCxnSpPr>
                <a:stCxn id="42" idx="3"/>
                <a:endCxn id="50" idx="1"/>
              </p:cNvCxnSpPr>
              <p:nvPr/>
            </p:nvCxnSpPr>
            <p:spPr>
              <a:xfrm flipV="1">
                <a:off x="9512" y="8324"/>
                <a:ext cx="664" cy="1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42" name="矩形 41"/>
              <p:cNvSpPr/>
              <p:nvPr/>
            </p:nvSpPr>
            <p:spPr>
              <a:xfrm>
                <a:off x="3843" y="7753"/>
                <a:ext cx="5669" cy="116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500" b="1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Rule Report Generator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：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生成规则报告，作为兜底 </a:t>
                </a:r>
                <a:r>
                  <a:rPr lang="en-US" altLang="zh-CN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baseline</a:t>
                </a:r>
                <a:endPara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64" name="矩形 63"/>
            <p:cNvSpPr/>
            <p:nvPr/>
          </p:nvSpPr>
          <p:spPr>
            <a:xfrm>
              <a:off x="7008" y="12736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Repair Planner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根据复审结果制定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修复计划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65" name="直接箭头连接符 64"/>
            <p:cNvCxnSpPr>
              <a:stCxn id="53" idx="2"/>
              <a:endCxn id="64" idx="0"/>
            </p:cNvCxnSpPr>
            <p:nvPr/>
          </p:nvCxnSpPr>
          <p:spPr>
            <a:xfrm>
              <a:off x="9843" y="12032"/>
              <a:ext cx="0" cy="7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7008" y="14293"/>
              <a:ext cx="5669" cy="5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输出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仓库评估报告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67" name="直接箭头连接符 66"/>
            <p:cNvCxnSpPr>
              <a:stCxn id="64" idx="2"/>
              <a:endCxn id="66" idx="0"/>
            </p:cNvCxnSpPr>
            <p:nvPr/>
          </p:nvCxnSpPr>
          <p:spPr>
            <a:xfrm>
              <a:off x="9843" y="13586"/>
              <a:ext cx="0" cy="7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8" name="曲线连接符 67"/>
            <p:cNvCxnSpPr>
              <a:stCxn id="64" idx="1"/>
              <a:endCxn id="3" idx="1"/>
            </p:cNvCxnSpPr>
            <p:nvPr/>
          </p:nvCxnSpPr>
          <p:spPr>
            <a:xfrm rot="10800000" flipH="1">
              <a:off x="7008" y="1849"/>
              <a:ext cx="5" cy="11312"/>
            </a:xfrm>
            <a:prstGeom prst="curvedConnector3">
              <a:avLst>
                <a:gd name="adj1" fmla="val -191240000"/>
              </a:avLst>
            </a:prstGeom>
            <a:ln w="1905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曲线连接符 68"/>
            <p:cNvCxnSpPr>
              <a:stCxn id="64" idx="1"/>
              <a:endCxn id="27" idx="1"/>
            </p:cNvCxnSpPr>
            <p:nvPr/>
          </p:nvCxnSpPr>
          <p:spPr>
            <a:xfrm rot="10800000" flipH="1">
              <a:off x="7008" y="4677"/>
              <a:ext cx="5" cy="8484"/>
            </a:xfrm>
            <a:prstGeom prst="curvedConnector3">
              <a:avLst>
                <a:gd name="adj1" fmla="val -159360000"/>
              </a:avLst>
            </a:prstGeom>
            <a:ln w="1905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0" name="曲线连接符 69"/>
            <p:cNvCxnSpPr/>
            <p:nvPr/>
          </p:nvCxnSpPr>
          <p:spPr>
            <a:xfrm rot="10800000" flipH="1">
              <a:off x="6901" y="6091"/>
              <a:ext cx="5" cy="7070"/>
            </a:xfrm>
            <a:prstGeom prst="curvedConnector3">
              <a:avLst>
                <a:gd name="adj1" fmla="val -135000000"/>
              </a:avLst>
            </a:prstGeom>
            <a:ln w="1905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1" name="曲线连接符 70"/>
            <p:cNvCxnSpPr>
              <a:stCxn id="64" idx="1"/>
              <a:endCxn id="50" idx="2"/>
            </p:cNvCxnSpPr>
            <p:nvPr/>
          </p:nvCxnSpPr>
          <p:spPr>
            <a:xfrm rot="10800000" flipH="1">
              <a:off x="7007" y="8903"/>
              <a:ext cx="6003" cy="4257"/>
            </a:xfrm>
            <a:prstGeom prst="curvedConnector4">
              <a:avLst>
                <a:gd name="adj1" fmla="val -83141"/>
                <a:gd name="adj2" fmla="val 87197"/>
              </a:avLst>
            </a:prstGeom>
            <a:ln w="1905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72" name="文本框 71"/>
            <p:cNvSpPr txBox="1"/>
            <p:nvPr/>
          </p:nvSpPr>
          <p:spPr>
            <a:xfrm>
              <a:off x="7998" y="13809"/>
              <a:ext cx="3690" cy="22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1200" b="1">
                  <a:latin typeface="Times New Roman" panose="02020603050405020304" charset="0"/>
                  <a:cs typeface="Times New Roman" panose="02020603050405020304" charset="0"/>
                </a:rPr>
                <a:t>PASS OR </a:t>
              </a:r>
              <a:r>
                <a:rPr lang="en-US" altLang="zh-CN" sz="1200" b="1">
                  <a:latin typeface="Times New Roman" panose="02020603050405020304" charset="0"/>
                  <a:cs typeface="Times New Roman" panose="02020603050405020304" charset="0"/>
                </a:rPr>
                <a:t>MAX_TRY_COUNT</a:t>
              </a:r>
              <a:endParaRPr lang="en-US" altLang="zh-CN" sz="1200" b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73" name="文本框 72"/>
            <p:cNvSpPr txBox="1"/>
            <p:nvPr/>
          </p:nvSpPr>
          <p:spPr>
            <a:xfrm>
              <a:off x="5808" y="13034"/>
              <a:ext cx="909" cy="26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1200" b="1">
                  <a:latin typeface="Times New Roman" panose="02020603050405020304" charset="0"/>
                  <a:cs typeface="Times New Roman" panose="02020603050405020304" charset="0"/>
                </a:rPr>
                <a:t>FAIL</a:t>
              </a:r>
              <a:endParaRPr lang="en-US" altLang="zh-CN" sz="1200" b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grpSp>
          <p:nvGrpSpPr>
            <p:cNvPr id="63" name="组合 62"/>
            <p:cNvGrpSpPr/>
            <p:nvPr/>
          </p:nvGrpSpPr>
          <p:grpSpPr>
            <a:xfrm>
              <a:off x="3327" y="9910"/>
              <a:ext cx="13032" cy="2122"/>
              <a:chOff x="3327" y="11029"/>
              <a:chExt cx="13032" cy="2122"/>
            </a:xfrm>
          </p:grpSpPr>
          <p:sp>
            <p:nvSpPr>
              <p:cNvPr id="53" name="矩形 52"/>
              <p:cNvSpPr/>
              <p:nvPr/>
            </p:nvSpPr>
            <p:spPr>
              <a:xfrm>
                <a:off x="3327" y="11029"/>
                <a:ext cx="13032" cy="21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500" b="1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  <a:sym typeface="+mn-ea"/>
                  </a:rPr>
                  <a:t>Quality Reviewer Agent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  <a:sym typeface="+mn-ea"/>
                  </a:rPr>
                  <a:t>：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endParaRPr>
              </a:p>
              <a:p>
                <a:pPr algn="ctr"/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endParaRPr>
              </a:p>
              <a:p>
                <a:pPr algn="ctr"/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endParaRPr>
              </a:p>
              <a:p>
                <a:pPr algn="ctr"/>
                <a:endPara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  <a:p>
                <a:pPr algn="ctr"/>
                <a:endPara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3843" y="11712"/>
                <a:ext cx="12000" cy="1160"/>
                <a:chOff x="3843" y="11712"/>
                <a:chExt cx="12000" cy="1160"/>
              </a:xfrm>
            </p:grpSpPr>
            <p:sp>
              <p:nvSpPr>
                <p:cNvPr id="55" name="矩形 54"/>
                <p:cNvSpPr/>
                <p:nvPr/>
              </p:nvSpPr>
              <p:spPr>
                <a:xfrm>
                  <a:off x="3843" y="11712"/>
                  <a:ext cx="5669" cy="116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altLang="zh-CN" sz="1500" b="1">
                      <a:solidFill>
                        <a:schemeClr val="tx1"/>
                      </a:solidFill>
                      <a:latin typeface="Times New Roman" panose="02020603050405020304" charset="0"/>
                      <a:ea typeface="微软雅黑" panose="020B0503020204020204" charset="-122"/>
                    </a:rPr>
                    <a:t>Quality Guard</a:t>
                  </a:r>
                  <a:r>
                    <a:rPr lang="zh-CN" altLang="en-US" sz="1500">
                      <a:solidFill>
                        <a:schemeClr val="tx1"/>
                      </a:solidFill>
                      <a:latin typeface="Times New Roman" panose="02020603050405020304" charset="0"/>
                      <a:ea typeface="微软雅黑" panose="020B0503020204020204" charset="-122"/>
                    </a:rPr>
                    <a:t>：</a:t>
                  </a:r>
                  <a:endPara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endParaRPr>
                </a:p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Times New Roman" panose="02020603050405020304" charset="0"/>
                      <a:ea typeface="微软雅黑" panose="020B0503020204020204" charset="-122"/>
                    </a:rPr>
                    <a:t>进行规则质量检查</a:t>
                  </a:r>
                  <a:endPara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56" name="矩形 55"/>
                <p:cNvSpPr/>
                <p:nvPr/>
              </p:nvSpPr>
              <p:spPr>
                <a:xfrm>
                  <a:off x="10175" y="11712"/>
                  <a:ext cx="5669" cy="116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altLang="zh-CN" sz="1500" b="1">
                      <a:solidFill>
                        <a:schemeClr val="tx1"/>
                      </a:solidFill>
                      <a:latin typeface="Times New Roman" panose="02020603050405020304" charset="0"/>
                      <a:ea typeface="微软雅黑" panose="020B0503020204020204" charset="-122"/>
                    </a:rPr>
                    <a:t>LLM Quality Reviewer</a:t>
                  </a:r>
                  <a:r>
                    <a:rPr lang="zh-CN" altLang="en-US" sz="1500">
                      <a:solidFill>
                        <a:schemeClr val="tx1"/>
                      </a:solidFill>
                      <a:latin typeface="Times New Roman" panose="02020603050405020304" charset="0"/>
                      <a:ea typeface="微软雅黑" panose="020B0503020204020204" charset="-122"/>
                    </a:rPr>
                    <a:t>：</a:t>
                  </a:r>
                  <a:endPara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endParaRPr>
                </a:p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Times New Roman" panose="02020603050405020304" charset="0"/>
                      <a:ea typeface="微软雅黑" panose="020B0503020204020204" charset="-122"/>
                    </a:rPr>
                    <a:t>进行语义复审</a:t>
                  </a:r>
                  <a:endPara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endParaRPr>
                </a:p>
              </p:txBody>
            </p:sp>
            <p:cxnSp>
              <p:nvCxnSpPr>
                <p:cNvPr id="61" name="直接箭头连接符 60"/>
                <p:cNvCxnSpPr>
                  <a:stCxn id="55" idx="3"/>
                  <a:endCxn id="56" idx="1"/>
                </p:cNvCxnSpPr>
                <p:nvPr/>
              </p:nvCxnSpPr>
              <p:spPr>
                <a:xfrm>
                  <a:off x="9512" y="12293"/>
                  <a:ext cx="663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75" name="流程图: 磁盘 74"/>
            <p:cNvSpPr/>
            <p:nvPr/>
          </p:nvSpPr>
          <p:spPr>
            <a:xfrm>
              <a:off x="14185" y="5562"/>
              <a:ext cx="1943" cy="1058"/>
            </a:xfrm>
            <a:prstGeom prst="flowChartMagneticDisk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知识库</a:t>
              </a:r>
              <a:endParaRPr lang="zh-CN" altLang="en-US" sz="15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cxnSp>
          <p:nvCxnSpPr>
            <p:cNvPr id="76" name="直接箭头连接符 75"/>
            <p:cNvCxnSpPr>
              <a:stCxn id="75" idx="2"/>
              <a:endCxn id="30" idx="3"/>
            </p:cNvCxnSpPr>
            <p:nvPr/>
          </p:nvCxnSpPr>
          <p:spPr>
            <a:xfrm flipH="1">
              <a:off x="12677" y="6091"/>
              <a:ext cx="1508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0" name="肘形连接符 79"/>
            <p:cNvCxnSpPr>
              <a:stCxn id="56" idx="3"/>
              <a:endCxn id="78" idx="2"/>
            </p:cNvCxnSpPr>
            <p:nvPr/>
          </p:nvCxnSpPr>
          <p:spPr>
            <a:xfrm flipV="1">
              <a:off x="15843" y="10686"/>
              <a:ext cx="2376" cy="488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1" name="肘形连接符 80"/>
            <p:cNvCxnSpPr>
              <a:stCxn id="77" idx="0"/>
              <a:endCxn id="50" idx="3"/>
            </p:cNvCxnSpPr>
            <p:nvPr/>
          </p:nvCxnSpPr>
          <p:spPr>
            <a:xfrm rot="16200000" flipV="1">
              <a:off x="16824" y="7345"/>
              <a:ext cx="415" cy="237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83" name="组合 82"/>
            <p:cNvGrpSpPr/>
            <p:nvPr/>
          </p:nvGrpSpPr>
          <p:grpSpPr>
            <a:xfrm>
              <a:off x="16981" y="8660"/>
              <a:ext cx="2041" cy="2025"/>
              <a:chOff x="16981" y="8660"/>
              <a:chExt cx="2041" cy="2025"/>
            </a:xfrm>
          </p:grpSpPr>
          <p:pic>
            <p:nvPicPr>
              <p:cNvPr id="77" name="图片 76" descr="文件"/>
              <p:cNvPicPr>
                <a:picLocks noChangeAspect="1"/>
              </p:cNvPicPr>
              <p:nvPr>
                <p:custDataLst>
                  <p:tags r:id="rId1"/>
                </p:custDataLst>
              </p:nvPr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7498" y="8739"/>
                <a:ext cx="1440" cy="1440"/>
              </a:xfrm>
              <a:prstGeom prst="rect">
                <a:avLst/>
              </a:prstGeom>
            </p:spPr>
          </p:pic>
          <p:sp>
            <p:nvSpPr>
              <p:cNvPr id="78" name="文本框 77"/>
              <p:cNvSpPr txBox="1"/>
              <p:nvPr/>
            </p:nvSpPr>
            <p:spPr>
              <a:xfrm>
                <a:off x="17414" y="10179"/>
                <a:ext cx="1609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500" b="1"/>
                  <a:t>记忆文件</a:t>
                </a:r>
                <a:endParaRPr lang="zh-CN" altLang="en-US" sz="1500" b="1"/>
              </a:p>
            </p:txBody>
          </p:sp>
          <p:sp>
            <p:nvSpPr>
              <p:cNvPr id="82" name="文本框 81"/>
              <p:cNvSpPr txBox="1"/>
              <p:nvPr/>
            </p:nvSpPr>
            <p:spPr>
              <a:xfrm>
                <a:off x="16981" y="8660"/>
                <a:ext cx="517" cy="15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500"/>
                  <a:t>评审建议</a:t>
                </a:r>
                <a:endParaRPr lang="zh-CN" altLang="en-US" sz="1500"/>
              </a:p>
            </p:txBody>
          </p:sp>
        </p:grpSp>
        <p:sp>
          <p:nvSpPr>
            <p:cNvPr id="84" name="矩形 83"/>
            <p:cNvSpPr/>
            <p:nvPr/>
          </p:nvSpPr>
          <p:spPr>
            <a:xfrm>
              <a:off x="19849" y="263"/>
              <a:ext cx="1094" cy="79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Redis</a:t>
              </a:r>
              <a:endParaRPr lang="en-US" altLang="zh-CN" sz="15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85" name="直接箭头连接符 84"/>
            <p:cNvCxnSpPr>
              <a:endCxn id="14" idx="3"/>
            </p:cNvCxnSpPr>
            <p:nvPr/>
          </p:nvCxnSpPr>
          <p:spPr>
            <a:xfrm flipH="1" flipV="1">
              <a:off x="12677" y="3263"/>
              <a:ext cx="7158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86" name="文本框 85"/>
            <p:cNvSpPr txBox="1"/>
            <p:nvPr/>
          </p:nvSpPr>
          <p:spPr>
            <a:xfrm>
              <a:off x="15660" y="3046"/>
              <a:ext cx="1556" cy="43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指标</a:t>
              </a:r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缓存</a:t>
              </a:r>
              <a:endParaRPr lang="zh-CN" altLang="en-US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87" name="直接箭头连接符 86"/>
            <p:cNvCxnSpPr>
              <a:endCxn id="35" idx="3"/>
            </p:cNvCxnSpPr>
            <p:nvPr/>
          </p:nvCxnSpPr>
          <p:spPr>
            <a:xfrm flipH="1">
              <a:off x="16360" y="8056"/>
              <a:ext cx="347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88" name="文本框 87"/>
            <p:cNvSpPr txBox="1"/>
            <p:nvPr/>
          </p:nvSpPr>
          <p:spPr>
            <a:xfrm>
              <a:off x="17454" y="7824"/>
              <a:ext cx="1457" cy="43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历史报告</a:t>
              </a:r>
              <a:endParaRPr lang="zh-CN" altLang="en-US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89" name="直接箭头连接符 88"/>
            <p:cNvCxnSpPr>
              <a:endCxn id="2" idx="3"/>
            </p:cNvCxnSpPr>
            <p:nvPr/>
          </p:nvCxnSpPr>
          <p:spPr>
            <a:xfrm flipH="1" flipV="1">
              <a:off x="12677" y="435"/>
              <a:ext cx="7148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0" name="文本框 89"/>
            <p:cNvSpPr txBox="1"/>
            <p:nvPr/>
          </p:nvSpPr>
          <p:spPr>
            <a:xfrm>
              <a:off x="15404" y="209"/>
              <a:ext cx="2069" cy="43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仓库信息</a:t>
              </a:r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缓存</a:t>
              </a:r>
              <a:endParaRPr lang="zh-CN" altLang="en-US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87" name="组合 86"/>
          <p:cNvGrpSpPr/>
          <p:nvPr/>
        </p:nvGrpSpPr>
        <p:grpSpPr>
          <a:xfrm>
            <a:off x="-2298700" y="1397000"/>
            <a:ext cx="17999710" cy="5180330"/>
            <a:chOff x="-3620" y="2200"/>
            <a:chExt cx="28346" cy="8158"/>
          </a:xfrm>
        </p:grpSpPr>
        <p:cxnSp>
          <p:nvCxnSpPr>
            <p:cNvPr id="2" name="直接连接符 1"/>
            <p:cNvCxnSpPr/>
            <p:nvPr/>
          </p:nvCxnSpPr>
          <p:spPr>
            <a:xfrm flipV="1">
              <a:off x="-3620" y="5400"/>
              <a:ext cx="28346" cy="0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" name="矩形 2"/>
            <p:cNvSpPr/>
            <p:nvPr/>
          </p:nvSpPr>
          <p:spPr>
            <a:xfrm>
              <a:off x="1458" y="3844"/>
              <a:ext cx="3225" cy="12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Document Loader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读取知识库中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的文件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547" y="3844"/>
              <a:ext cx="3225" cy="12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Document Splitter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文本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分块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9636" y="3844"/>
              <a:ext cx="3225" cy="12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Chunk Builder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把文本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变成 </a:t>
              </a:r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RAG </a:t>
              </a:r>
              <a:endParaRPr lang="en-US" alt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标准 </a:t>
              </a:r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Chunk</a:t>
              </a:r>
              <a:endParaRPr lang="en-US" alt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26" name="矩形 25"/>
            <p:cNvSpPr/>
            <p:nvPr/>
          </p:nvSpPr>
          <p:spPr>
            <a:xfrm>
              <a:off x="13725" y="3844"/>
              <a:ext cx="3225" cy="12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Embedding Service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将文本块变成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向量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27" name="矩形 26"/>
            <p:cNvSpPr/>
            <p:nvPr/>
          </p:nvSpPr>
          <p:spPr>
            <a:xfrm>
              <a:off x="17815" y="3844"/>
              <a:ext cx="3225" cy="12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Vector Store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把</a:t>
              </a:r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 Chunk 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写入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向量库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-2631" y="3844"/>
              <a:ext cx="3225" cy="12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Index Service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管理索引构建动作，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支持单文件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重索引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30" name="矩形 29"/>
            <p:cNvSpPr/>
            <p:nvPr/>
          </p:nvSpPr>
          <p:spPr>
            <a:xfrm>
              <a:off x="1459" y="5839"/>
              <a:ext cx="3225" cy="12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RAG Service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在线 </a:t>
              </a:r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RAG 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检索入口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34" name="平行四边形 33"/>
            <p:cNvSpPr/>
            <p:nvPr/>
          </p:nvSpPr>
          <p:spPr>
            <a:xfrm>
              <a:off x="13566" y="5839"/>
              <a:ext cx="3544" cy="1263"/>
            </a:xfrm>
            <a:prstGeom prst="parallelogram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rPr>
                <a:t>Report Generator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基于检索结果生成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评估报告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3899" y="7582"/>
              <a:ext cx="3225" cy="12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BM25 Retriever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基于关键词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进行检索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42" name="矩形 41"/>
            <p:cNvSpPr/>
            <p:nvPr/>
          </p:nvSpPr>
          <p:spPr>
            <a:xfrm>
              <a:off x="9636" y="5839"/>
              <a:ext cx="3225" cy="12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Reranker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对候选结果重新排序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50" name="流程图: 磁盘 49"/>
            <p:cNvSpPr/>
            <p:nvPr/>
          </p:nvSpPr>
          <p:spPr>
            <a:xfrm>
              <a:off x="2099" y="2200"/>
              <a:ext cx="1943" cy="1058"/>
            </a:xfrm>
            <a:prstGeom prst="flowChartMagneticDisk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知识库</a:t>
              </a:r>
              <a:endParaRPr lang="zh-CN" altLang="en-US" sz="15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grpSp>
          <p:nvGrpSpPr>
            <p:cNvPr id="56" name="组合 55"/>
            <p:cNvGrpSpPr/>
            <p:nvPr/>
          </p:nvGrpSpPr>
          <p:grpSpPr>
            <a:xfrm rot="0">
              <a:off x="21905" y="3338"/>
              <a:ext cx="1944" cy="1767"/>
              <a:chOff x="21901" y="3338"/>
              <a:chExt cx="1944" cy="1767"/>
            </a:xfrm>
          </p:grpSpPr>
          <p:pic>
            <p:nvPicPr>
              <p:cNvPr id="51" name="图片 50" descr="数据库"/>
              <p:cNvPicPr>
                <a:picLocks noChangeAspect="1"/>
              </p:cNvPicPr>
              <p:nvPr>
                <p:custDataLst>
                  <p:tags r:id="rId1"/>
                </p:custDataLst>
              </p:nvPr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1901" y="3845"/>
                <a:ext cx="1945" cy="1261"/>
              </a:xfrm>
              <a:prstGeom prst="rect">
                <a:avLst/>
              </a:prstGeom>
            </p:spPr>
          </p:pic>
          <p:sp>
            <p:nvSpPr>
              <p:cNvPr id="55" name="文本框 54"/>
              <p:cNvSpPr txBox="1"/>
              <p:nvPr/>
            </p:nvSpPr>
            <p:spPr>
              <a:xfrm>
                <a:off x="22047" y="3338"/>
                <a:ext cx="1654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>
                  <a:buClrTx/>
                  <a:buSzTx/>
                  <a:buFontTx/>
                </a:pPr>
                <a:r>
                  <a:rPr lang="zh-CN" altLang="en-US" sz="1500" b="1">
                    <a:latin typeface="微软雅黑" panose="020B0503020204020204" charset="-122"/>
                    <a:ea typeface="微软雅黑" panose="020B0503020204020204" charset="-122"/>
                  </a:rPr>
                  <a:t>向量库</a:t>
                </a:r>
                <a:endParaRPr lang="zh-CN" altLang="en-US" sz="15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84" name="组合 83"/>
            <p:cNvGrpSpPr/>
            <p:nvPr/>
          </p:nvGrpSpPr>
          <p:grpSpPr>
            <a:xfrm>
              <a:off x="7981" y="9186"/>
              <a:ext cx="2160" cy="1173"/>
              <a:chOff x="8231" y="7583"/>
              <a:chExt cx="2160" cy="1400"/>
            </a:xfrm>
          </p:grpSpPr>
          <p:pic>
            <p:nvPicPr>
              <p:cNvPr id="58" name="图片 57" descr="数据库"/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231" y="7583"/>
                <a:ext cx="2160" cy="1400"/>
              </a:xfrm>
              <a:prstGeom prst="rect">
                <a:avLst/>
              </a:prstGeom>
            </p:spPr>
          </p:pic>
          <p:sp>
            <p:nvSpPr>
              <p:cNvPr id="59" name="文本框 58"/>
              <p:cNvSpPr txBox="1"/>
              <p:nvPr/>
            </p:nvSpPr>
            <p:spPr>
              <a:xfrm>
                <a:off x="8627" y="7980"/>
                <a:ext cx="1369" cy="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>
                  <a:buClrTx/>
                  <a:buSzTx/>
                  <a:buFontTx/>
                </a:pPr>
                <a:r>
                  <a:rPr lang="zh-CN" altLang="en-US" sz="1500" b="1">
                    <a:latin typeface="微软雅黑" panose="020B0503020204020204" charset="-122"/>
                    <a:ea typeface="微软雅黑" panose="020B0503020204020204" charset="-122"/>
                  </a:rPr>
                  <a:t>向量库</a:t>
                </a:r>
                <a:endParaRPr lang="zh-CN" altLang="en-US" sz="15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cxnSp>
          <p:nvCxnSpPr>
            <p:cNvPr id="60" name="直接箭头连接符 59"/>
            <p:cNvCxnSpPr>
              <a:stCxn id="28" idx="3"/>
              <a:endCxn id="3" idx="1"/>
            </p:cNvCxnSpPr>
            <p:nvPr/>
          </p:nvCxnSpPr>
          <p:spPr>
            <a:xfrm>
              <a:off x="594" y="4476"/>
              <a:ext cx="86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1" name="直接箭头连接符 60"/>
            <p:cNvCxnSpPr>
              <a:stCxn id="3" idx="3"/>
              <a:endCxn id="6" idx="1"/>
            </p:cNvCxnSpPr>
            <p:nvPr/>
          </p:nvCxnSpPr>
          <p:spPr>
            <a:xfrm>
              <a:off x="4683" y="4476"/>
              <a:ext cx="86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2" name="直接箭头连接符 61"/>
            <p:cNvCxnSpPr>
              <a:stCxn id="6" idx="3"/>
              <a:endCxn id="14" idx="1"/>
            </p:cNvCxnSpPr>
            <p:nvPr/>
          </p:nvCxnSpPr>
          <p:spPr>
            <a:xfrm>
              <a:off x="8772" y="4476"/>
              <a:ext cx="86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3" name="直接箭头连接符 62"/>
            <p:cNvCxnSpPr>
              <a:stCxn id="14" idx="3"/>
              <a:endCxn id="26" idx="1"/>
            </p:cNvCxnSpPr>
            <p:nvPr/>
          </p:nvCxnSpPr>
          <p:spPr>
            <a:xfrm>
              <a:off x="12861" y="4476"/>
              <a:ext cx="86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4" name="直接箭头连接符 63"/>
            <p:cNvCxnSpPr>
              <a:stCxn id="35" idx="2"/>
              <a:endCxn id="76" idx="1"/>
            </p:cNvCxnSpPr>
            <p:nvPr/>
          </p:nvCxnSpPr>
          <p:spPr>
            <a:xfrm>
              <a:off x="5512" y="8845"/>
              <a:ext cx="0" cy="3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6" name="直接箭头连接符 65"/>
            <p:cNvCxnSpPr>
              <a:stCxn id="79" idx="3"/>
              <a:endCxn id="42" idx="1"/>
            </p:cNvCxnSpPr>
            <p:nvPr/>
          </p:nvCxnSpPr>
          <p:spPr>
            <a:xfrm>
              <a:off x="8851" y="6471"/>
              <a:ext cx="78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7" name="直接箭头连接符 66"/>
            <p:cNvCxnSpPr>
              <a:stCxn id="26" idx="3"/>
              <a:endCxn id="27" idx="1"/>
            </p:cNvCxnSpPr>
            <p:nvPr/>
          </p:nvCxnSpPr>
          <p:spPr>
            <a:xfrm>
              <a:off x="16950" y="4476"/>
              <a:ext cx="86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8" name="直接箭头连接符 67"/>
            <p:cNvCxnSpPr>
              <a:stCxn id="42" idx="3"/>
              <a:endCxn id="34" idx="5"/>
            </p:cNvCxnSpPr>
            <p:nvPr/>
          </p:nvCxnSpPr>
          <p:spPr>
            <a:xfrm>
              <a:off x="12861" y="6471"/>
              <a:ext cx="86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直接箭头连接符 68"/>
            <p:cNvCxnSpPr>
              <a:stCxn id="27" idx="3"/>
              <a:endCxn id="51" idx="1"/>
            </p:cNvCxnSpPr>
            <p:nvPr/>
          </p:nvCxnSpPr>
          <p:spPr>
            <a:xfrm>
              <a:off x="21040" y="4476"/>
              <a:ext cx="86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5" name="直接箭头连接符 84"/>
            <p:cNvCxnSpPr>
              <a:stCxn id="3" idx="0"/>
              <a:endCxn id="50" idx="3"/>
            </p:cNvCxnSpPr>
            <p:nvPr/>
          </p:nvCxnSpPr>
          <p:spPr>
            <a:xfrm flipV="1">
              <a:off x="3071" y="3258"/>
              <a:ext cx="0" cy="586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71" name="平行四边形 70"/>
            <p:cNvSpPr/>
            <p:nvPr/>
          </p:nvSpPr>
          <p:spPr>
            <a:xfrm>
              <a:off x="-2790" y="5839"/>
              <a:ext cx="3544" cy="1263"/>
            </a:xfrm>
            <a:prstGeom prst="parallelogram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rPr>
                <a:t>RAG Retrieval;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构造查询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语句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72" name="直接箭头连接符 71"/>
            <p:cNvCxnSpPr>
              <a:stCxn id="71" idx="2"/>
              <a:endCxn id="30" idx="1"/>
            </p:cNvCxnSpPr>
            <p:nvPr/>
          </p:nvCxnSpPr>
          <p:spPr>
            <a:xfrm>
              <a:off x="596" y="6471"/>
              <a:ext cx="86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76" name="流程图: 磁盘 75"/>
            <p:cNvSpPr/>
            <p:nvPr/>
          </p:nvSpPr>
          <p:spPr>
            <a:xfrm>
              <a:off x="4540" y="9186"/>
              <a:ext cx="1943" cy="1173"/>
            </a:xfrm>
            <a:prstGeom prst="flowChartMagneticDisk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endParaRPr>
            </a:p>
            <a:p>
              <a:pPr algn="ctr"/>
              <a:r>
                <a:rPr lang="zh-CN" altLang="en-US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</a:rPr>
                <a:t>知识库</a:t>
              </a:r>
              <a:endParaRPr lang="zh-CN" altLang="en-US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endParaRPr>
            </a:p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</a:rPr>
                <a:t>Chunks</a:t>
              </a:r>
              <a:endParaRPr lang="en-US" altLang="zh-CN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endParaRPr>
            </a:p>
          </p:txBody>
        </p:sp>
        <p:cxnSp>
          <p:nvCxnSpPr>
            <p:cNvPr id="80" name="肘形连接符 79"/>
            <p:cNvCxnSpPr>
              <a:stCxn id="79" idx="2"/>
              <a:endCxn id="35" idx="0"/>
            </p:cNvCxnSpPr>
            <p:nvPr/>
          </p:nvCxnSpPr>
          <p:spPr>
            <a:xfrm rot="5400000">
              <a:off x="6136" y="6479"/>
              <a:ext cx="480" cy="1727"/>
            </a:xfrm>
            <a:prstGeom prst="bentConnector3">
              <a:avLst>
                <a:gd name="adj1" fmla="val 49896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5626" y="5839"/>
              <a:ext cx="3225" cy="12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Hybrid Retriever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将向量检索结果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和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关键词检索结果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融合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81" name="直接箭头连接符 80"/>
            <p:cNvCxnSpPr>
              <a:stCxn id="30" idx="3"/>
              <a:endCxn id="79" idx="1"/>
            </p:cNvCxnSpPr>
            <p:nvPr/>
          </p:nvCxnSpPr>
          <p:spPr>
            <a:xfrm>
              <a:off x="4684" y="6471"/>
              <a:ext cx="94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82" name="矩形 81"/>
            <p:cNvSpPr/>
            <p:nvPr/>
          </p:nvSpPr>
          <p:spPr>
            <a:xfrm>
              <a:off x="7448" y="7582"/>
              <a:ext cx="3225" cy="12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Vector Store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基于向量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rPr>
                <a:t>进行检索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83" name="肘形连接符 82"/>
            <p:cNvCxnSpPr>
              <a:stCxn id="79" idx="2"/>
              <a:endCxn id="82" idx="0"/>
            </p:cNvCxnSpPr>
            <p:nvPr/>
          </p:nvCxnSpPr>
          <p:spPr>
            <a:xfrm rot="5400000" flipV="1">
              <a:off x="7910" y="6431"/>
              <a:ext cx="480" cy="1822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6" name="直接箭头连接符 85"/>
            <p:cNvCxnSpPr>
              <a:stCxn id="82" idx="2"/>
              <a:endCxn id="58" idx="0"/>
            </p:cNvCxnSpPr>
            <p:nvPr/>
          </p:nvCxnSpPr>
          <p:spPr>
            <a:xfrm>
              <a:off x="9061" y="8845"/>
              <a:ext cx="0" cy="3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50032351&quot;,&quot;origin&quot;:0,&quot;type&quot;:&quot;icons&quot;,&quot;user&quot;:&quot;594548642&quot;}"/>
</p:tagLst>
</file>

<file path=ppt/tags/tag2.xml><?xml version="1.0" encoding="utf-8"?>
<p:tagLst xmlns:p="http://schemas.openxmlformats.org/presentationml/2006/main">
  <p:tag name="KSO_DOCER_RESOURCE_TRACE_INFO" val="{&quot;id&quot;:&quot;50062380&quot;,&quot;origin&quot;:0,&quot;type&quot;:&quot;icons&quot;,&quot;user&quot;:&quot;594548642&quot;}"/>
</p:tagLst>
</file>

<file path=ppt/tags/tag3.xml><?xml version="1.0" encoding="utf-8"?>
<p:tagLst xmlns:p="http://schemas.openxmlformats.org/presentationml/2006/main">
  <p:tag name="KSO_DOCER_RESOURCE_TRACE_INFO" val="{&quot;id&quot;:&quot;50062380&quot;,&quot;origin&quot;:0,&quot;type&quot;:&quot;icons&quot;,&quot;user&quot;:&quot;594548642&quot;}"/>
</p:tagLst>
</file>

<file path=ppt/tags/tag4.xml><?xml version="1.0" encoding="utf-8"?>
<p:tagLst xmlns:p="http://schemas.openxmlformats.org/presentationml/2006/main">
  <p:tag name="resource_record_key" val="{&quot;10&quot;:[50032351,50062380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1158</Words>
  <Application>WPS 演示</Application>
  <PresentationFormat>宽屏</PresentationFormat>
  <Paragraphs>162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1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yihan wang</dc:creator>
  <cp:lastModifiedBy>wyh</cp:lastModifiedBy>
  <cp:revision>33</cp:revision>
  <dcterms:created xsi:type="dcterms:W3CDTF">2023-08-09T12:44:00Z</dcterms:created>
  <dcterms:modified xsi:type="dcterms:W3CDTF">2026-05-03T05:04:38Z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F36F92FE6229402AAAB36CA804DE0BEE_12</vt:lpwstr>
  </property>
</Properties>
</file>