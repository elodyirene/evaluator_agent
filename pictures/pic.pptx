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</p:sldIdLst>
  <p:sldSz cx="12192000" cy="6858000"/>
  <p:notesSz cx="6858000" cy="9144000"/>
  <p:custDataLst>
    <p:tags r:id="rId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3" userDrawn="1">
          <p15:clr>
            <a:srgbClr val="A4A3A4"/>
          </p15:clr>
        </p15:guide>
        <p15:guide id="2" pos="38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53"/>
        <p:guide pos="38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2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9" name="组合 48"/>
          <p:cNvGrpSpPr/>
          <p:nvPr/>
        </p:nvGrpSpPr>
        <p:grpSpPr>
          <a:xfrm>
            <a:off x="1225550" y="0"/>
            <a:ext cx="10289540" cy="7363460"/>
            <a:chOff x="1930" y="0"/>
            <a:chExt cx="16204" cy="11596"/>
          </a:xfrm>
        </p:grpSpPr>
        <p:sp>
          <p:nvSpPr>
            <p:cNvPr id="4" name="矩形 3"/>
            <p:cNvSpPr/>
            <p:nvPr/>
          </p:nvSpPr>
          <p:spPr>
            <a:xfrm>
              <a:off x="7008" y="0"/>
              <a:ext cx="5669" cy="5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输入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Github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仓库链接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7008" y="5373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Core Metric Selector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 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根据项目类型筛选关键指标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008" y="1131"/>
              <a:ext cx="5669" cy="85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Supervisor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调度各个任务节点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008" y="2545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Project Parser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提取项目基础信息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 rot="0">
              <a:off x="3411" y="3959"/>
              <a:ext cx="12864" cy="850"/>
              <a:chOff x="3497" y="3959"/>
              <a:chExt cx="12864" cy="850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3497" y="3959"/>
                <a:ext cx="5669" cy="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Type Classifier Agent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判断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开源项目类型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10693" y="3959"/>
                <a:ext cx="5669" cy="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Metric Collector Agent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调用接口获取指标数据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</p:grpSp>
        <p:sp>
          <p:nvSpPr>
            <p:cNvPr id="11" name="矩形 10"/>
            <p:cNvSpPr/>
            <p:nvPr/>
          </p:nvSpPr>
          <p:spPr>
            <a:xfrm>
              <a:off x="7008" y="6787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RAG Retrieval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从知识库中检索指标的定义和适用场景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7008" y="8201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Evaluation Judge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结合指标结果和定义生成评估报告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7008" y="9615"/>
              <a:ext cx="5669" cy="85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Quality Guard Agent</a:t>
              </a:r>
              <a:r>
                <a:rPr 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一致性检查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7008" y="11030"/>
              <a:ext cx="5669" cy="5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输出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仓库评估报告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16" name="直接箭头连接符 15"/>
            <p:cNvCxnSpPr>
              <a:stCxn id="4" idx="2"/>
              <a:endCxn id="5" idx="0"/>
            </p:cNvCxnSpPr>
            <p:nvPr/>
          </p:nvCxnSpPr>
          <p:spPr>
            <a:xfrm>
              <a:off x="9843" y="567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>
              <a:stCxn id="9" idx="2"/>
              <a:endCxn id="11" idx="0"/>
            </p:cNvCxnSpPr>
            <p:nvPr/>
          </p:nvCxnSpPr>
          <p:spPr>
            <a:xfrm>
              <a:off x="9843" y="6223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" name="直接箭头连接符 17"/>
            <p:cNvCxnSpPr>
              <a:stCxn id="11" idx="2"/>
              <a:endCxn id="12" idx="0"/>
            </p:cNvCxnSpPr>
            <p:nvPr/>
          </p:nvCxnSpPr>
          <p:spPr>
            <a:xfrm>
              <a:off x="9843" y="7637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" name="直接箭头连接符 18"/>
            <p:cNvCxnSpPr>
              <a:stCxn id="12" idx="2"/>
              <a:endCxn id="13" idx="0"/>
            </p:cNvCxnSpPr>
            <p:nvPr/>
          </p:nvCxnSpPr>
          <p:spPr>
            <a:xfrm>
              <a:off x="9843" y="9051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0" name="直接箭头连接符 19"/>
            <p:cNvCxnSpPr>
              <a:stCxn id="13" idx="2"/>
              <a:endCxn id="15" idx="0"/>
            </p:cNvCxnSpPr>
            <p:nvPr/>
          </p:nvCxnSpPr>
          <p:spPr>
            <a:xfrm>
              <a:off x="9843" y="10465"/>
              <a:ext cx="0" cy="5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" name="肘形连接符 20"/>
            <p:cNvCxnSpPr>
              <a:stCxn id="7" idx="2"/>
              <a:endCxn id="8" idx="0"/>
            </p:cNvCxnSpPr>
            <p:nvPr/>
          </p:nvCxnSpPr>
          <p:spPr>
            <a:xfrm rot="5400000">
              <a:off x="7762" y="1878"/>
              <a:ext cx="564" cy="3598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肘形连接符 21"/>
            <p:cNvCxnSpPr>
              <a:stCxn id="7" idx="2"/>
              <a:endCxn id="10" idx="0"/>
            </p:cNvCxnSpPr>
            <p:nvPr/>
          </p:nvCxnSpPr>
          <p:spPr>
            <a:xfrm rot="5400000" flipV="1">
              <a:off x="11361" y="1878"/>
              <a:ext cx="564" cy="3599"/>
            </a:xfrm>
            <a:prstGeom prst="bentConnector3">
              <a:avLst>
                <a:gd name="adj1" fmla="val 4991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>
              <a:stCxn id="5" idx="2"/>
              <a:endCxn id="7" idx="0"/>
            </p:cNvCxnSpPr>
            <p:nvPr/>
          </p:nvCxnSpPr>
          <p:spPr>
            <a:xfrm>
              <a:off x="9843" y="1981"/>
              <a:ext cx="0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" name="肘形连接符 23"/>
            <p:cNvCxnSpPr>
              <a:stCxn id="8" idx="2"/>
              <a:endCxn id="9" idx="0"/>
            </p:cNvCxnSpPr>
            <p:nvPr/>
          </p:nvCxnSpPr>
          <p:spPr>
            <a:xfrm rot="5400000" flipV="1">
              <a:off x="7762" y="3292"/>
              <a:ext cx="564" cy="3598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" name="肘形连接符 24"/>
            <p:cNvCxnSpPr>
              <a:stCxn id="10" idx="2"/>
              <a:endCxn id="9" idx="0"/>
            </p:cNvCxnSpPr>
            <p:nvPr/>
          </p:nvCxnSpPr>
          <p:spPr>
            <a:xfrm rot="5400000">
              <a:off x="11361" y="3292"/>
              <a:ext cx="564" cy="3599"/>
            </a:xfrm>
            <a:prstGeom prst="bentConnector3">
              <a:avLst>
                <a:gd name="adj1" fmla="val 4991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肘形连接符 30"/>
            <p:cNvCxnSpPr>
              <a:stCxn id="13" idx="1"/>
              <a:endCxn id="5" idx="1"/>
            </p:cNvCxnSpPr>
            <p:nvPr/>
          </p:nvCxnSpPr>
          <p:spPr>
            <a:xfrm rot="10800000" flipH="1">
              <a:off x="7008" y="1556"/>
              <a:ext cx="5" cy="8484"/>
            </a:xfrm>
            <a:prstGeom prst="bentConnector3">
              <a:avLst>
                <a:gd name="adj1" fmla="val -9258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2" name="文本框 31"/>
            <p:cNvSpPr txBox="1"/>
            <p:nvPr/>
          </p:nvSpPr>
          <p:spPr>
            <a:xfrm>
              <a:off x="9388" y="10617"/>
              <a:ext cx="909" cy="26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PASS</a:t>
              </a:r>
              <a:endParaRPr lang="en-US" altLang="zh-CN" sz="12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930" y="5677"/>
              <a:ext cx="909" cy="261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1200" b="1">
                  <a:latin typeface="Times New Roman" panose="02020603050405020304" charset="0"/>
                  <a:cs typeface="Times New Roman" panose="02020603050405020304" charset="0"/>
                </a:rPr>
                <a:t>FAIL</a:t>
              </a:r>
              <a:endParaRPr lang="en-US" altLang="zh-CN" sz="12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7" name="流程图: 磁盘 36"/>
            <p:cNvSpPr/>
            <p:nvPr/>
          </p:nvSpPr>
          <p:spPr>
            <a:xfrm>
              <a:off x="3181" y="6683"/>
              <a:ext cx="1943" cy="1058"/>
            </a:xfrm>
            <a:prstGeom prst="flowChartMagneticDisk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rPr>
                <a:t>知识库</a:t>
              </a:r>
              <a:endParaRPr lang="zh-CN" altLang="en-US" sz="15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cxnSp>
          <p:nvCxnSpPr>
            <p:cNvPr id="38" name="直接箭头连接符 37"/>
            <p:cNvCxnSpPr>
              <a:stCxn id="11" idx="1"/>
              <a:endCxn id="37" idx="4"/>
            </p:cNvCxnSpPr>
            <p:nvPr/>
          </p:nvCxnSpPr>
          <p:spPr>
            <a:xfrm flipH="1">
              <a:off x="5124" y="7212"/>
              <a:ext cx="188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" name="矩形 38"/>
            <p:cNvSpPr/>
            <p:nvPr/>
          </p:nvSpPr>
          <p:spPr>
            <a:xfrm>
              <a:off x="17040" y="1130"/>
              <a:ext cx="1094" cy="79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Redis</a:t>
              </a:r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cxnSp>
          <p:nvCxnSpPr>
            <p:cNvPr id="40" name="直接箭头连接符 39"/>
            <p:cNvCxnSpPr>
              <a:endCxn id="10" idx="3"/>
            </p:cNvCxnSpPr>
            <p:nvPr/>
          </p:nvCxnSpPr>
          <p:spPr>
            <a:xfrm flipH="1" flipV="1">
              <a:off x="16276" y="4384"/>
              <a:ext cx="77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1" name="直接箭头连接符 40"/>
            <p:cNvCxnSpPr>
              <a:endCxn id="5" idx="3"/>
            </p:cNvCxnSpPr>
            <p:nvPr/>
          </p:nvCxnSpPr>
          <p:spPr>
            <a:xfrm flipH="1" flipV="1">
              <a:off x="12677" y="1556"/>
              <a:ext cx="436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" name="直接箭头连接符 42"/>
            <p:cNvCxnSpPr>
              <a:endCxn id="12" idx="3"/>
            </p:cNvCxnSpPr>
            <p:nvPr/>
          </p:nvCxnSpPr>
          <p:spPr>
            <a:xfrm flipH="1">
              <a:off x="12677" y="8594"/>
              <a:ext cx="436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" name="文本框 43"/>
            <p:cNvSpPr txBox="1"/>
            <p:nvPr/>
          </p:nvSpPr>
          <p:spPr>
            <a:xfrm>
              <a:off x="14173" y="1117"/>
              <a:ext cx="1457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Agent</a:t>
              </a:r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状态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16408" y="3731"/>
              <a:ext cx="511" cy="1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指标</a:t>
              </a:r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缓存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4173" y="8151"/>
              <a:ext cx="1457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历史报告</a:t>
              </a:r>
              <a:endParaRPr lang="zh-CN" altLang="en-US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13758" y="2156"/>
              <a:ext cx="2650" cy="123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API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GitHub API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OpenDigger API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48" name="直接箭头连接符 47"/>
            <p:cNvCxnSpPr>
              <a:endCxn id="47" idx="2"/>
            </p:cNvCxnSpPr>
            <p:nvPr/>
          </p:nvCxnSpPr>
          <p:spPr>
            <a:xfrm flipH="1" flipV="1">
              <a:off x="15083" y="3395"/>
              <a:ext cx="1" cy="57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4450080" y="-711835"/>
            <a:ext cx="3599815" cy="3600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输入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r>
              <a: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Github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仓库链接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16" name="直接箭头连接符 15"/>
          <p:cNvCxnSpPr>
            <a:stCxn id="4" idx="2"/>
            <a:endCxn id="2" idx="0"/>
          </p:cNvCxnSpPr>
          <p:nvPr/>
        </p:nvCxnSpPr>
        <p:spPr>
          <a:xfrm>
            <a:off x="6250305" y="-351790"/>
            <a:ext cx="0" cy="3581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" name="矩形 1"/>
          <p:cNvSpPr/>
          <p:nvPr/>
        </p:nvSpPr>
        <p:spPr>
          <a:xfrm>
            <a:off x="4450080" y="6350"/>
            <a:ext cx="3599815" cy="539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Project Parser Agent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  <a:p>
            <a:pPr algn="ctr"/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提取项目基础信息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4450080" y="904240"/>
            <a:ext cx="3599815" cy="539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rPr>
              <a:t>Type Classifier Agent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rPr>
              <a:t>：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  <a:p>
            <a:pPr algn="ctr"/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rPr>
              <a:t>判断开源项目类型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6" name="直接箭头连接符 5"/>
          <p:cNvCxnSpPr>
            <a:stCxn id="2" idx="2"/>
            <a:endCxn id="3" idx="0"/>
          </p:cNvCxnSpPr>
          <p:nvPr/>
        </p:nvCxnSpPr>
        <p:spPr>
          <a:xfrm>
            <a:off x="6250305" y="546100"/>
            <a:ext cx="0" cy="3581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矩形 13"/>
          <p:cNvSpPr/>
          <p:nvPr/>
        </p:nvSpPr>
        <p:spPr>
          <a:xfrm>
            <a:off x="4450080" y="1802130"/>
            <a:ext cx="3599815" cy="539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Metric Collector Agent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  <a:p>
            <a:pPr algn="ctr"/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调用接口获取指标数据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26" name="直接箭头连接符 25"/>
          <p:cNvCxnSpPr>
            <a:stCxn id="3" idx="2"/>
            <a:endCxn id="14" idx="0"/>
          </p:cNvCxnSpPr>
          <p:nvPr/>
        </p:nvCxnSpPr>
        <p:spPr>
          <a:xfrm>
            <a:off x="6250305" y="1443990"/>
            <a:ext cx="0" cy="3581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4450080" y="2700020"/>
            <a:ext cx="3599815" cy="539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Core Metric Selector Agent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r>
              <a: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 </a:t>
            </a:r>
            <a:endParaRPr lang="en-US" altLang="zh-CN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  <a:p>
            <a:pPr algn="ctr"/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根据项目类型筛选关键指标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28" name="直接箭头连接符 27"/>
          <p:cNvCxnSpPr>
            <a:stCxn id="14" idx="2"/>
            <a:endCxn id="27" idx="0"/>
          </p:cNvCxnSpPr>
          <p:nvPr/>
        </p:nvCxnSpPr>
        <p:spPr>
          <a:xfrm>
            <a:off x="6250305" y="2341880"/>
            <a:ext cx="0" cy="3581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矩形 29"/>
          <p:cNvSpPr/>
          <p:nvPr/>
        </p:nvSpPr>
        <p:spPr>
          <a:xfrm>
            <a:off x="4450080" y="3597910"/>
            <a:ext cx="3599815" cy="539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RAG Retrieval Agent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  <a:p>
            <a:pPr algn="ctr"/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从知识库中检索指标的定义和适用场景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34" name="直接箭头连接符 33"/>
          <p:cNvCxnSpPr>
            <a:stCxn id="27" idx="2"/>
            <a:endCxn id="30" idx="0"/>
          </p:cNvCxnSpPr>
          <p:nvPr/>
        </p:nvCxnSpPr>
        <p:spPr>
          <a:xfrm>
            <a:off x="6250305" y="3239770"/>
            <a:ext cx="0" cy="3581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4" name="直接箭头连接符 53"/>
          <p:cNvCxnSpPr/>
          <p:nvPr/>
        </p:nvCxnSpPr>
        <p:spPr>
          <a:xfrm flipH="1">
            <a:off x="6250305" y="5843270"/>
            <a:ext cx="635" cy="4483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74" name="组合 73"/>
          <p:cNvGrpSpPr/>
          <p:nvPr/>
        </p:nvGrpSpPr>
        <p:grpSpPr>
          <a:xfrm>
            <a:off x="2113280" y="4137660"/>
            <a:ext cx="8275320" cy="1705610"/>
            <a:chOff x="3328" y="6516"/>
            <a:chExt cx="13032" cy="2686"/>
          </a:xfrm>
        </p:grpSpPr>
        <p:cxnSp>
          <p:nvCxnSpPr>
            <p:cNvPr id="36" name="直接箭头连接符 35"/>
            <p:cNvCxnSpPr>
              <a:stCxn id="30" idx="2"/>
              <a:endCxn id="35" idx="0"/>
            </p:cNvCxnSpPr>
            <p:nvPr/>
          </p:nvCxnSpPr>
          <p:spPr>
            <a:xfrm>
              <a:off x="9843" y="6516"/>
              <a:ext cx="1" cy="5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5" name="矩形 34"/>
            <p:cNvSpPr/>
            <p:nvPr/>
          </p:nvSpPr>
          <p:spPr>
            <a:xfrm>
              <a:off x="3328" y="7080"/>
              <a:ext cx="13032" cy="21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Report Generator </a:t>
              </a:r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endParaRPr>
            </a:p>
            <a:p>
              <a:pPr algn="ctr"/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endParaRPr>
            </a:p>
            <a:p>
              <a:pPr algn="ctr"/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endParaRPr>
            </a:p>
            <a:p>
              <a:pPr algn="ctr"/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0176" y="7743"/>
              <a:ext cx="5669" cy="11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Rule Report Generator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基于规则报告、指标和知识库上下文，生成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候选评估报告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cxnSp>
          <p:nvCxnSpPr>
            <p:cNvPr id="58" name="直接箭头连接符 57"/>
            <p:cNvCxnSpPr>
              <a:stCxn id="42" idx="3"/>
              <a:endCxn id="50" idx="1"/>
            </p:cNvCxnSpPr>
            <p:nvPr/>
          </p:nvCxnSpPr>
          <p:spPr>
            <a:xfrm flipV="1">
              <a:off x="9512" y="8324"/>
              <a:ext cx="664" cy="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" name="矩形 41"/>
            <p:cNvSpPr/>
            <p:nvPr/>
          </p:nvSpPr>
          <p:spPr>
            <a:xfrm>
              <a:off x="3843" y="7753"/>
              <a:ext cx="5669" cy="11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Rule Report Generator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生成规则报告，作为兜底 </a:t>
              </a:r>
              <a:r>
                <a:rPr lang="en-US" altLang="zh-CN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rPr>
                <a:t>baseline</a:t>
              </a:r>
              <a:endParaRPr lang="en-US" altLang="zh-CN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</p:grpSp>
      <p:sp>
        <p:nvSpPr>
          <p:cNvPr id="64" name="矩形 63"/>
          <p:cNvSpPr/>
          <p:nvPr/>
        </p:nvSpPr>
        <p:spPr>
          <a:xfrm>
            <a:off x="4450080" y="8087360"/>
            <a:ext cx="3599815" cy="5397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Repair Planner Agent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  <a:p>
            <a:pPr algn="ctr"/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根据复审结果制定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修复计划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65" name="直接箭头连接符 64"/>
          <p:cNvCxnSpPr>
            <a:stCxn id="53" idx="2"/>
            <a:endCxn id="64" idx="0"/>
          </p:cNvCxnSpPr>
          <p:nvPr/>
        </p:nvCxnSpPr>
        <p:spPr>
          <a:xfrm>
            <a:off x="6250305" y="7640320"/>
            <a:ext cx="0" cy="44704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4450080" y="9076055"/>
            <a:ext cx="3599815" cy="3594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输出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：</a:t>
            </a:r>
            <a:r>
              <a: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rPr>
              <a:t>仓库评估报告</a:t>
            </a:r>
            <a:endParaRPr lang="zh-CN" altLang="en-US" sz="15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</a:endParaRPr>
          </a:p>
        </p:txBody>
      </p:sp>
      <p:cxnSp>
        <p:nvCxnSpPr>
          <p:cNvPr id="67" name="直接箭头连接符 66"/>
          <p:cNvCxnSpPr>
            <a:stCxn id="64" idx="2"/>
            <a:endCxn id="66" idx="0"/>
          </p:cNvCxnSpPr>
          <p:nvPr/>
        </p:nvCxnSpPr>
        <p:spPr>
          <a:xfrm>
            <a:off x="6250305" y="8627110"/>
            <a:ext cx="0" cy="4489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8" name="曲线连接符 67"/>
          <p:cNvCxnSpPr>
            <a:stCxn id="64" idx="1"/>
            <a:endCxn id="3" idx="1"/>
          </p:cNvCxnSpPr>
          <p:nvPr/>
        </p:nvCxnSpPr>
        <p:spPr>
          <a:xfrm rot="10800000" flipH="1">
            <a:off x="4450080" y="1174115"/>
            <a:ext cx="3175" cy="7183120"/>
          </a:xfrm>
          <a:prstGeom prst="curvedConnector3">
            <a:avLst>
              <a:gd name="adj1" fmla="val -19124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曲线连接符 68"/>
          <p:cNvCxnSpPr>
            <a:stCxn id="64" idx="1"/>
            <a:endCxn id="27" idx="1"/>
          </p:cNvCxnSpPr>
          <p:nvPr/>
        </p:nvCxnSpPr>
        <p:spPr>
          <a:xfrm rot="10800000" flipH="1">
            <a:off x="4450080" y="2969895"/>
            <a:ext cx="3175" cy="5387340"/>
          </a:xfrm>
          <a:prstGeom prst="curvedConnector3">
            <a:avLst>
              <a:gd name="adj1" fmla="val -15936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0" name="曲线连接符 69"/>
          <p:cNvCxnSpPr/>
          <p:nvPr/>
        </p:nvCxnSpPr>
        <p:spPr>
          <a:xfrm rot="10800000" flipH="1">
            <a:off x="4382135" y="3867785"/>
            <a:ext cx="3175" cy="4489450"/>
          </a:xfrm>
          <a:prstGeom prst="curvedConnector3">
            <a:avLst>
              <a:gd name="adj1" fmla="val -135000000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1" name="曲线连接符 70"/>
          <p:cNvCxnSpPr>
            <a:stCxn id="64" idx="1"/>
            <a:endCxn id="50" idx="2"/>
          </p:cNvCxnSpPr>
          <p:nvPr/>
        </p:nvCxnSpPr>
        <p:spPr>
          <a:xfrm rot="10800000" flipH="1">
            <a:off x="4449445" y="5653405"/>
            <a:ext cx="3811905" cy="2703195"/>
          </a:xfrm>
          <a:prstGeom prst="curvedConnector4">
            <a:avLst>
              <a:gd name="adj1" fmla="val -83141"/>
              <a:gd name="adj2" fmla="val 87197"/>
            </a:avLst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2" name="文本框 71"/>
          <p:cNvSpPr txBox="1"/>
          <p:nvPr/>
        </p:nvSpPr>
        <p:spPr>
          <a:xfrm>
            <a:off x="5078413" y="8768715"/>
            <a:ext cx="2343150" cy="1403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PASS OR </a:t>
            </a:r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MAX_TRY_COUNT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688080" y="8276590"/>
            <a:ext cx="577215" cy="1657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FAIL</a:t>
            </a:r>
            <a:endParaRPr lang="en-US" altLang="zh-CN" sz="12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/>
          <p:nvPr/>
        </p:nvGrpSpPr>
        <p:grpSpPr>
          <a:xfrm>
            <a:off x="2112645" y="6292850"/>
            <a:ext cx="8275320" cy="1347470"/>
            <a:chOff x="3327" y="11029"/>
            <a:chExt cx="13032" cy="2122"/>
          </a:xfrm>
        </p:grpSpPr>
        <p:sp>
          <p:nvSpPr>
            <p:cNvPr id="53" name="矩形 52"/>
            <p:cNvSpPr/>
            <p:nvPr/>
          </p:nvSpPr>
          <p:spPr>
            <a:xfrm>
              <a:off x="3327" y="11029"/>
              <a:ext cx="13032" cy="21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500" b="1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Quality Reviewer Agent</a:t>
              </a:r>
              <a:r>
                <a: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  <a:sym typeface="+mn-ea"/>
                </a:rPr>
                <a:t>：</a:t>
              </a:r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endParaRPr>
            </a:p>
            <a:p>
              <a:pPr algn="ctr"/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endParaRPr>
            </a:p>
            <a:p>
              <a:pPr algn="ctr"/>
              <a:endParaRPr lang="zh-CN" altLang="en-US" sz="15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sym typeface="+mn-ea"/>
              </a:endParaRPr>
            </a:p>
            <a:p>
              <a:pPr algn="ctr"/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  <a:p>
              <a:pPr algn="ctr"/>
              <a:endParaRPr lang="en-US" altLang="zh-CN" sz="1500" b="1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</a:endParaRPr>
            </a:p>
          </p:txBody>
        </p:sp>
        <p:grpSp>
          <p:nvGrpSpPr>
            <p:cNvPr id="62" name="组合 61"/>
            <p:cNvGrpSpPr/>
            <p:nvPr/>
          </p:nvGrpSpPr>
          <p:grpSpPr>
            <a:xfrm>
              <a:off x="3843" y="11712"/>
              <a:ext cx="12000" cy="1160"/>
              <a:chOff x="3843" y="11712"/>
              <a:chExt cx="12000" cy="1160"/>
            </a:xfrm>
          </p:grpSpPr>
          <p:sp>
            <p:nvSpPr>
              <p:cNvPr id="55" name="矩形 54"/>
              <p:cNvSpPr/>
              <p:nvPr/>
            </p:nvSpPr>
            <p:spPr>
              <a:xfrm>
                <a:off x="3843" y="11712"/>
                <a:ext cx="5669" cy="116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Quality Guard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进行规则质量检查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175" y="11712"/>
                <a:ext cx="5669" cy="116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500" b="1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LLM Quality Reviewer</a:t>
                </a:r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：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Times New Roman" panose="02020603050405020304" charset="0"/>
                    <a:ea typeface="微软雅黑" panose="020B0503020204020204" charset="-122"/>
                  </a:rPr>
                  <a:t>进行语义复审</a:t>
                </a:r>
                <a:endParaRPr lang="zh-CN" altLang="en-US" sz="1500">
                  <a:solidFill>
                    <a:schemeClr val="tx1"/>
                  </a:solidFill>
                  <a:latin typeface="Times New Roman" panose="02020603050405020304" charset="0"/>
                  <a:ea typeface="微软雅黑" panose="020B0503020204020204" charset="-122"/>
                </a:endParaRPr>
              </a:p>
            </p:txBody>
          </p:sp>
          <p:cxnSp>
            <p:nvCxnSpPr>
              <p:cNvPr id="61" name="直接箭头连接符 60"/>
              <p:cNvCxnSpPr>
                <a:stCxn id="55" idx="3"/>
                <a:endCxn id="56" idx="1"/>
              </p:cNvCxnSpPr>
              <p:nvPr/>
            </p:nvCxnSpPr>
            <p:spPr>
              <a:xfrm>
                <a:off x="9512" y="12293"/>
                <a:ext cx="66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</p:grpSp>
      <p:sp>
        <p:nvSpPr>
          <p:cNvPr id="75" name="流程图: 磁盘 74"/>
          <p:cNvSpPr/>
          <p:nvPr/>
        </p:nvSpPr>
        <p:spPr>
          <a:xfrm>
            <a:off x="9007475" y="3531870"/>
            <a:ext cx="1233805" cy="671830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lang="zh-CN" altLang="en-US" sz="15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76" name="直接箭头连接符 75"/>
          <p:cNvCxnSpPr>
            <a:stCxn id="75" idx="2"/>
            <a:endCxn id="30" idx="3"/>
          </p:cNvCxnSpPr>
          <p:nvPr/>
        </p:nvCxnSpPr>
        <p:spPr>
          <a:xfrm flipH="1">
            <a:off x="8049895" y="3867785"/>
            <a:ext cx="957580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0" name="肘形连接符 79"/>
          <p:cNvCxnSpPr>
            <a:stCxn id="56" idx="3"/>
            <a:endCxn id="78" idx="2"/>
          </p:cNvCxnSpPr>
          <p:nvPr/>
        </p:nvCxnSpPr>
        <p:spPr>
          <a:xfrm flipV="1">
            <a:off x="10060305" y="6785610"/>
            <a:ext cx="1508760" cy="30988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肘形连接符 80"/>
          <p:cNvCxnSpPr>
            <a:stCxn id="77" idx="0"/>
            <a:endCxn id="50" idx="3"/>
          </p:cNvCxnSpPr>
          <p:nvPr/>
        </p:nvCxnSpPr>
        <p:spPr>
          <a:xfrm rot="16200000" flipV="1">
            <a:off x="10683240" y="4664075"/>
            <a:ext cx="263525" cy="150685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/>
        </p:nvGrpSpPr>
        <p:grpSpPr>
          <a:xfrm>
            <a:off x="10782935" y="5499100"/>
            <a:ext cx="1296035" cy="1285875"/>
            <a:chOff x="16981" y="8660"/>
            <a:chExt cx="2041" cy="2025"/>
          </a:xfrm>
        </p:grpSpPr>
        <p:pic>
          <p:nvPicPr>
            <p:cNvPr id="77" name="图片 76" descr="文件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498" y="8739"/>
              <a:ext cx="1440" cy="1440"/>
            </a:xfrm>
            <a:prstGeom prst="rect">
              <a:avLst/>
            </a:prstGeom>
          </p:spPr>
        </p:pic>
        <p:sp>
          <p:nvSpPr>
            <p:cNvPr id="78" name="文本框 77"/>
            <p:cNvSpPr txBox="1"/>
            <p:nvPr/>
          </p:nvSpPr>
          <p:spPr>
            <a:xfrm>
              <a:off x="17414" y="10179"/>
              <a:ext cx="1609" cy="5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500" b="1"/>
                <a:t>记忆文件</a:t>
              </a:r>
              <a:endParaRPr lang="zh-CN" altLang="en-US" sz="1500" b="1"/>
            </a:p>
          </p:txBody>
        </p:sp>
        <p:sp>
          <p:nvSpPr>
            <p:cNvPr id="82" name="文本框 81"/>
            <p:cNvSpPr txBox="1"/>
            <p:nvPr/>
          </p:nvSpPr>
          <p:spPr>
            <a:xfrm>
              <a:off x="16981" y="8660"/>
              <a:ext cx="517" cy="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500"/>
                <a:t>评审建议</a:t>
              </a:r>
              <a:endParaRPr lang="zh-CN" altLang="en-US" sz="1500"/>
            </a:p>
          </p:txBody>
        </p: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50032351&quot;,&quot;origin&quot;:0,&quot;type&quot;:&quot;icons&quot;,&quot;user&quot;:&quot;594548642&quot;}"/>
</p:tagLst>
</file>

<file path=ppt/tags/tag2.xml><?xml version="1.0" encoding="utf-8"?>
<p:tagLst xmlns:p="http://schemas.openxmlformats.org/presentationml/2006/main">
  <p:tag name="resource_record_key" val="{&quot;10&quot;:[5003235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782</Words>
  <Application>WPS 演示</Application>
  <PresentationFormat>宽屏</PresentationFormat>
  <Paragraphs>102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yihan wang</dc:creator>
  <cp:lastModifiedBy>wyh</cp:lastModifiedBy>
  <cp:revision>18</cp:revision>
  <dcterms:created xsi:type="dcterms:W3CDTF">2023-08-09T12:44:00Z</dcterms:created>
  <dcterms:modified xsi:type="dcterms:W3CDTF">2026-05-01T13:33:55Z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F36F92FE6229402AAAB36CA804DE0BEE_12</vt:lpwstr>
  </property>
</Properties>
</file>