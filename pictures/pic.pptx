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3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2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9" name="组合 48"/>
          <p:cNvGrpSpPr/>
          <p:nvPr/>
        </p:nvGrpSpPr>
        <p:grpSpPr>
          <a:xfrm>
            <a:off x="1225550" y="0"/>
            <a:ext cx="10289540" cy="7363460"/>
            <a:chOff x="1930" y="0"/>
            <a:chExt cx="16204" cy="11596"/>
          </a:xfrm>
        </p:grpSpPr>
        <p:sp>
          <p:nvSpPr>
            <p:cNvPr id="4" name="矩形 3"/>
            <p:cNvSpPr/>
            <p:nvPr/>
          </p:nvSpPr>
          <p:spPr>
            <a:xfrm>
              <a:off x="7008" y="0"/>
              <a:ext cx="5669" cy="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输入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Github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仓库链接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7008" y="5373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Core Metric Selector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 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根据项目类型筛选关键指标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008" y="1131"/>
              <a:ext cx="5669" cy="8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Supervisor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调度各个任务节点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008" y="2545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Project Parser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提取项目基础信息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 rot="0">
              <a:off x="3411" y="3959"/>
              <a:ext cx="12864" cy="850"/>
              <a:chOff x="3497" y="3959"/>
              <a:chExt cx="12864" cy="850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3497" y="3959"/>
                <a:ext cx="5669" cy="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500" b="1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Type Classifier Agent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：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判断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开源项目类型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10693" y="3959"/>
                <a:ext cx="5669" cy="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500" b="1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Metric Collector Agent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：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调用接口获取指标数据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7008" y="6787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RAG Retrieval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从知识库中检索指标的定义和适用场景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7008" y="8201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Evaluation Judge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结合指标结果和定义生成评估报告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008" y="9615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Quality Guard Agent</a:t>
              </a:r>
              <a:r>
                <a:rPr 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一致性检查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008" y="11030"/>
              <a:ext cx="5669" cy="5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输出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仓库评估报告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16" name="直接箭头连接符 15"/>
            <p:cNvCxnSpPr>
              <a:stCxn id="4" idx="2"/>
              <a:endCxn id="5" idx="0"/>
            </p:cNvCxnSpPr>
            <p:nvPr/>
          </p:nvCxnSpPr>
          <p:spPr>
            <a:xfrm>
              <a:off x="9843" y="567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9" idx="2"/>
              <a:endCxn id="11" idx="0"/>
            </p:cNvCxnSpPr>
            <p:nvPr/>
          </p:nvCxnSpPr>
          <p:spPr>
            <a:xfrm>
              <a:off x="9843" y="6223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1" idx="2"/>
              <a:endCxn id="12" idx="0"/>
            </p:cNvCxnSpPr>
            <p:nvPr/>
          </p:nvCxnSpPr>
          <p:spPr>
            <a:xfrm>
              <a:off x="9843" y="7637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2" idx="2"/>
              <a:endCxn id="13" idx="0"/>
            </p:cNvCxnSpPr>
            <p:nvPr/>
          </p:nvCxnSpPr>
          <p:spPr>
            <a:xfrm>
              <a:off x="9843" y="9051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3" idx="2"/>
              <a:endCxn id="15" idx="0"/>
            </p:cNvCxnSpPr>
            <p:nvPr/>
          </p:nvCxnSpPr>
          <p:spPr>
            <a:xfrm>
              <a:off x="9843" y="10465"/>
              <a:ext cx="0" cy="56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肘形连接符 20"/>
            <p:cNvCxnSpPr>
              <a:stCxn id="7" idx="2"/>
              <a:endCxn id="8" idx="0"/>
            </p:cNvCxnSpPr>
            <p:nvPr/>
          </p:nvCxnSpPr>
          <p:spPr>
            <a:xfrm rot="5400000">
              <a:off x="7762" y="1878"/>
              <a:ext cx="564" cy="359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stCxn id="7" idx="2"/>
              <a:endCxn id="10" idx="0"/>
            </p:cNvCxnSpPr>
            <p:nvPr/>
          </p:nvCxnSpPr>
          <p:spPr>
            <a:xfrm rot="5400000" flipV="1">
              <a:off x="11361" y="1878"/>
              <a:ext cx="564" cy="3599"/>
            </a:xfrm>
            <a:prstGeom prst="bentConnector3">
              <a:avLst>
                <a:gd name="adj1" fmla="val 49911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5" idx="2"/>
              <a:endCxn id="7" idx="0"/>
            </p:cNvCxnSpPr>
            <p:nvPr/>
          </p:nvCxnSpPr>
          <p:spPr>
            <a:xfrm>
              <a:off x="9843" y="1981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肘形连接符 23"/>
            <p:cNvCxnSpPr>
              <a:stCxn id="8" idx="2"/>
              <a:endCxn id="9" idx="0"/>
            </p:cNvCxnSpPr>
            <p:nvPr/>
          </p:nvCxnSpPr>
          <p:spPr>
            <a:xfrm rot="5400000" flipV="1">
              <a:off x="7762" y="3292"/>
              <a:ext cx="564" cy="359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肘形连接符 24"/>
            <p:cNvCxnSpPr>
              <a:stCxn id="10" idx="2"/>
              <a:endCxn id="9" idx="0"/>
            </p:cNvCxnSpPr>
            <p:nvPr/>
          </p:nvCxnSpPr>
          <p:spPr>
            <a:xfrm rot="5400000">
              <a:off x="11361" y="3292"/>
              <a:ext cx="564" cy="3599"/>
            </a:xfrm>
            <a:prstGeom prst="bentConnector3">
              <a:avLst>
                <a:gd name="adj1" fmla="val 49911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肘形连接符 30"/>
            <p:cNvCxnSpPr>
              <a:stCxn id="13" idx="1"/>
              <a:endCxn id="5" idx="1"/>
            </p:cNvCxnSpPr>
            <p:nvPr/>
          </p:nvCxnSpPr>
          <p:spPr>
            <a:xfrm rot="10800000" flipH="1">
              <a:off x="7008" y="1556"/>
              <a:ext cx="5" cy="8484"/>
            </a:xfrm>
            <a:prstGeom prst="bentConnector3">
              <a:avLst>
                <a:gd name="adj1" fmla="val -9258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/>
          </p:nvSpPr>
          <p:spPr>
            <a:xfrm>
              <a:off x="9388" y="10617"/>
              <a:ext cx="909" cy="26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PASS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930" y="5677"/>
              <a:ext cx="909" cy="2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FAIL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7" name="流程图: 磁盘 36"/>
            <p:cNvSpPr/>
            <p:nvPr/>
          </p:nvSpPr>
          <p:spPr>
            <a:xfrm>
              <a:off x="3181" y="6683"/>
              <a:ext cx="1943" cy="1058"/>
            </a:xfrm>
            <a:prstGeom prst="flowChartMagneticDisk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知识库</a:t>
              </a:r>
              <a:endParaRPr lang="zh-CN" altLang="en-US"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38" name="直接箭头连接符 37"/>
            <p:cNvCxnSpPr>
              <a:stCxn id="11" idx="1"/>
              <a:endCxn id="37" idx="4"/>
            </p:cNvCxnSpPr>
            <p:nvPr/>
          </p:nvCxnSpPr>
          <p:spPr>
            <a:xfrm flipH="1">
              <a:off x="5124" y="7212"/>
              <a:ext cx="188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矩形 38"/>
            <p:cNvSpPr/>
            <p:nvPr/>
          </p:nvSpPr>
          <p:spPr>
            <a:xfrm>
              <a:off x="17040" y="1130"/>
              <a:ext cx="1094" cy="79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Redis</a:t>
              </a:r>
              <a:endParaRPr lang="en-US" altLang="zh-CN" sz="15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0" name="直接箭头连接符 39"/>
            <p:cNvCxnSpPr>
              <a:endCxn id="10" idx="3"/>
            </p:cNvCxnSpPr>
            <p:nvPr/>
          </p:nvCxnSpPr>
          <p:spPr>
            <a:xfrm flipH="1" flipV="1">
              <a:off x="16276" y="4384"/>
              <a:ext cx="77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>
              <a:endCxn id="5" idx="3"/>
            </p:cNvCxnSpPr>
            <p:nvPr/>
          </p:nvCxnSpPr>
          <p:spPr>
            <a:xfrm flipH="1" flipV="1">
              <a:off x="12677" y="1556"/>
              <a:ext cx="43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endCxn id="12" idx="3"/>
            </p:cNvCxnSpPr>
            <p:nvPr/>
          </p:nvCxnSpPr>
          <p:spPr>
            <a:xfrm flipH="1">
              <a:off x="12677" y="8594"/>
              <a:ext cx="43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/>
          </p:nvSpPr>
          <p:spPr>
            <a:xfrm>
              <a:off x="14173" y="1117"/>
              <a:ext cx="145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Agent</a:t>
              </a:r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状态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6408" y="3731"/>
              <a:ext cx="511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指标</a:t>
              </a:r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缓存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4173" y="8151"/>
              <a:ext cx="145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历史报告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3758" y="2156"/>
              <a:ext cx="2650" cy="123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API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GitHub API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OpenDigger API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48" name="直接箭头连接符 47"/>
            <p:cNvCxnSpPr>
              <a:endCxn id="47" idx="2"/>
            </p:cNvCxnSpPr>
            <p:nvPr/>
          </p:nvCxnSpPr>
          <p:spPr>
            <a:xfrm flipH="1" flipV="1">
              <a:off x="15083" y="3395"/>
              <a:ext cx="1" cy="57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1" name="组合 90"/>
          <p:cNvGrpSpPr/>
          <p:nvPr/>
        </p:nvGrpSpPr>
        <p:grpSpPr>
          <a:xfrm>
            <a:off x="2112645" y="-711835"/>
            <a:ext cx="11186160" cy="10147300"/>
            <a:chOff x="3327" y="-1121"/>
            <a:chExt cx="17616" cy="15980"/>
          </a:xfrm>
        </p:grpSpPr>
        <p:sp>
          <p:nvSpPr>
            <p:cNvPr id="4" name="矩形 3"/>
            <p:cNvSpPr/>
            <p:nvPr/>
          </p:nvSpPr>
          <p:spPr>
            <a:xfrm>
              <a:off x="7008" y="-1121"/>
              <a:ext cx="5669" cy="5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输入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Github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仓库链接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16" name="直接箭头连接符 15"/>
            <p:cNvCxnSpPr>
              <a:stCxn id="4" idx="2"/>
              <a:endCxn id="2" idx="0"/>
            </p:cNvCxnSpPr>
            <p:nvPr/>
          </p:nvCxnSpPr>
          <p:spPr>
            <a:xfrm>
              <a:off x="9843" y="-554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/>
          </p:nvSpPr>
          <p:spPr>
            <a:xfrm>
              <a:off x="7008" y="10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Project Parser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提取项目基础信息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008" y="1424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rPr>
                <a:t>Type Classifier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rPr>
                <a:t>判断开源项目类型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6" name="直接箭头连接符 5"/>
            <p:cNvCxnSpPr>
              <a:stCxn id="2" idx="2"/>
              <a:endCxn id="3" idx="0"/>
            </p:cNvCxnSpPr>
            <p:nvPr/>
          </p:nvCxnSpPr>
          <p:spPr>
            <a:xfrm>
              <a:off x="9843" y="860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7008" y="2838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Metric Collector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调用接口获取指标数据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26" name="直接箭头连接符 25"/>
            <p:cNvCxnSpPr>
              <a:stCxn id="3" idx="2"/>
              <a:endCxn id="14" idx="0"/>
            </p:cNvCxnSpPr>
            <p:nvPr/>
          </p:nvCxnSpPr>
          <p:spPr>
            <a:xfrm>
              <a:off x="9843" y="2274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/>
          </p:nvSpPr>
          <p:spPr>
            <a:xfrm>
              <a:off x="7008" y="4252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Core Metric Selector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 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根据项目类型筛选关键指标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28" name="直接箭头连接符 27"/>
            <p:cNvCxnSpPr>
              <a:stCxn id="14" idx="2"/>
              <a:endCxn id="27" idx="0"/>
            </p:cNvCxnSpPr>
            <p:nvPr/>
          </p:nvCxnSpPr>
          <p:spPr>
            <a:xfrm>
              <a:off x="9843" y="3688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7008" y="5666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RAG Retrieval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从知识库中检索指标的定义和适用场景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34" name="直接箭头连接符 33"/>
            <p:cNvCxnSpPr>
              <a:stCxn id="27" idx="2"/>
              <a:endCxn id="30" idx="0"/>
            </p:cNvCxnSpPr>
            <p:nvPr/>
          </p:nvCxnSpPr>
          <p:spPr>
            <a:xfrm>
              <a:off x="9843" y="5102"/>
              <a:ext cx="0" cy="5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 flipH="1">
              <a:off x="9843" y="9202"/>
              <a:ext cx="1" cy="7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4" name="组合 73"/>
            <p:cNvGrpSpPr/>
            <p:nvPr/>
          </p:nvGrpSpPr>
          <p:grpSpPr>
            <a:xfrm>
              <a:off x="3328" y="6516"/>
              <a:ext cx="13032" cy="2686"/>
              <a:chOff x="3328" y="6516"/>
              <a:chExt cx="13032" cy="2686"/>
            </a:xfrm>
          </p:grpSpPr>
          <p:cxnSp>
            <p:nvCxnSpPr>
              <p:cNvPr id="36" name="直接箭头连接符 35"/>
              <p:cNvCxnSpPr>
                <a:stCxn id="30" idx="2"/>
                <a:endCxn id="35" idx="0"/>
              </p:cNvCxnSpPr>
              <p:nvPr/>
            </p:nvCxnSpPr>
            <p:spPr>
              <a:xfrm>
                <a:off x="9843" y="6516"/>
                <a:ext cx="1" cy="56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5" name="矩形 34"/>
              <p:cNvSpPr/>
              <p:nvPr/>
            </p:nvSpPr>
            <p:spPr>
              <a:xfrm>
                <a:off x="3328" y="7080"/>
                <a:ext cx="13032" cy="21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500" b="1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Report Generator </a:t>
                </a:r>
                <a:r>
                  <a:rPr lang="en-US" altLang="zh-CN" sz="1500" b="1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  <a:sym typeface="+mn-ea"/>
                  </a:rPr>
                  <a:t>Agent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  <a:sym typeface="+mn-ea"/>
                  </a:rPr>
                  <a:t>：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endParaRPr>
              </a:p>
              <a:p>
                <a:pPr algn="ctr"/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endParaRPr>
              </a:p>
              <a:p>
                <a:pPr algn="ctr"/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endParaRPr>
              </a:p>
              <a:p>
                <a:pPr algn="ctr"/>
                <a:endPara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  <a:p>
                <a:pPr algn="ctr"/>
                <a:endPara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10176" y="7743"/>
                <a:ext cx="5669" cy="11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500" b="1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LLM Report Generator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：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基于规则报告、指标、上下文、评审反馈和修复计划，生成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候选评估报告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</p:txBody>
          </p:sp>
          <p:cxnSp>
            <p:nvCxnSpPr>
              <p:cNvPr id="58" name="直接箭头连接符 57"/>
              <p:cNvCxnSpPr>
                <a:stCxn id="42" idx="3"/>
                <a:endCxn id="50" idx="1"/>
              </p:cNvCxnSpPr>
              <p:nvPr/>
            </p:nvCxnSpPr>
            <p:spPr>
              <a:xfrm flipV="1">
                <a:off x="9512" y="8324"/>
                <a:ext cx="664" cy="1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2" name="矩形 41"/>
              <p:cNvSpPr/>
              <p:nvPr/>
            </p:nvSpPr>
            <p:spPr>
              <a:xfrm>
                <a:off x="3843" y="7753"/>
                <a:ext cx="5669" cy="11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500" b="1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Rule Report Generator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：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  <a:p>
                <a:pPr algn="ctr"/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生成规则报告，作为兜底 </a:t>
                </a:r>
                <a:r>
                  <a:rPr lang="en-US" altLang="zh-CN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rPr>
                  <a:t>baseline</a:t>
                </a:r>
                <a:endParaRPr lang="en-US" altLang="zh-CN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</p:txBody>
          </p:sp>
        </p:grpSp>
        <p:sp>
          <p:nvSpPr>
            <p:cNvPr id="64" name="矩形 63"/>
            <p:cNvSpPr/>
            <p:nvPr/>
          </p:nvSpPr>
          <p:spPr>
            <a:xfrm>
              <a:off x="7008" y="12736"/>
              <a:ext cx="5669" cy="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Repair Planner Agent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根据复审结果制定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修复计划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65" name="直接箭头连接符 64"/>
            <p:cNvCxnSpPr>
              <a:stCxn id="53" idx="2"/>
              <a:endCxn id="64" idx="0"/>
            </p:cNvCxnSpPr>
            <p:nvPr/>
          </p:nvCxnSpPr>
          <p:spPr>
            <a:xfrm>
              <a:off x="9843" y="12032"/>
              <a:ext cx="0" cy="7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7008" y="14293"/>
              <a:ext cx="5669" cy="5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输出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：</a:t>
              </a:r>
              <a:r>
                <a: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rPr>
                <a:t>仓库评估报告</a:t>
              </a:r>
              <a:endParaRPr lang="zh-CN" altLang="en-US" sz="15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</a:endParaRPr>
            </a:p>
          </p:txBody>
        </p:sp>
        <p:cxnSp>
          <p:nvCxnSpPr>
            <p:cNvPr id="67" name="直接箭头连接符 66"/>
            <p:cNvCxnSpPr>
              <a:stCxn id="64" idx="2"/>
              <a:endCxn id="66" idx="0"/>
            </p:cNvCxnSpPr>
            <p:nvPr/>
          </p:nvCxnSpPr>
          <p:spPr>
            <a:xfrm>
              <a:off x="9843" y="13586"/>
              <a:ext cx="0" cy="7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曲线连接符 67"/>
            <p:cNvCxnSpPr>
              <a:stCxn id="64" idx="1"/>
              <a:endCxn id="3" idx="1"/>
            </p:cNvCxnSpPr>
            <p:nvPr/>
          </p:nvCxnSpPr>
          <p:spPr>
            <a:xfrm rot="10800000" flipH="1">
              <a:off x="7008" y="1849"/>
              <a:ext cx="5" cy="11312"/>
            </a:xfrm>
            <a:prstGeom prst="curvedConnector3">
              <a:avLst>
                <a:gd name="adj1" fmla="val -191240000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曲线连接符 68"/>
            <p:cNvCxnSpPr>
              <a:stCxn id="64" idx="1"/>
              <a:endCxn id="27" idx="1"/>
            </p:cNvCxnSpPr>
            <p:nvPr/>
          </p:nvCxnSpPr>
          <p:spPr>
            <a:xfrm rot="10800000" flipH="1">
              <a:off x="7008" y="4677"/>
              <a:ext cx="5" cy="8484"/>
            </a:xfrm>
            <a:prstGeom prst="curvedConnector3">
              <a:avLst>
                <a:gd name="adj1" fmla="val -159360000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0" name="曲线连接符 69"/>
            <p:cNvCxnSpPr/>
            <p:nvPr/>
          </p:nvCxnSpPr>
          <p:spPr>
            <a:xfrm rot="10800000" flipH="1">
              <a:off x="6901" y="6091"/>
              <a:ext cx="5" cy="7070"/>
            </a:xfrm>
            <a:prstGeom prst="curvedConnector3">
              <a:avLst>
                <a:gd name="adj1" fmla="val -135000000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" name="曲线连接符 70"/>
            <p:cNvCxnSpPr>
              <a:stCxn id="64" idx="1"/>
              <a:endCxn id="50" idx="2"/>
            </p:cNvCxnSpPr>
            <p:nvPr/>
          </p:nvCxnSpPr>
          <p:spPr>
            <a:xfrm rot="10800000" flipH="1">
              <a:off x="7007" y="8903"/>
              <a:ext cx="6003" cy="4257"/>
            </a:xfrm>
            <a:prstGeom prst="curvedConnector4">
              <a:avLst>
                <a:gd name="adj1" fmla="val -83141"/>
                <a:gd name="adj2" fmla="val 87197"/>
              </a:avLst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2" name="文本框 71"/>
            <p:cNvSpPr txBox="1"/>
            <p:nvPr/>
          </p:nvSpPr>
          <p:spPr>
            <a:xfrm>
              <a:off x="7998" y="13809"/>
              <a:ext cx="3690" cy="22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PASS OR </a:t>
              </a:r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MAX_TRY_COUNT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5808" y="13034"/>
              <a:ext cx="909" cy="2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FAIL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3327" y="9910"/>
              <a:ext cx="13032" cy="2122"/>
              <a:chOff x="3327" y="11029"/>
              <a:chExt cx="13032" cy="2122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3327" y="11029"/>
                <a:ext cx="13032" cy="21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500" b="1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  <a:sym typeface="+mn-ea"/>
                  </a:rPr>
                  <a:t>Quality Reviewer Agent</a:t>
                </a:r>
                <a:r>
                  <a: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  <a:sym typeface="+mn-ea"/>
                  </a:rPr>
                  <a:t>：</a:t>
                </a:r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endParaRPr>
              </a:p>
              <a:p>
                <a:pPr algn="ctr"/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endParaRPr>
              </a:p>
              <a:p>
                <a:pPr algn="ctr"/>
                <a:endParaRPr lang="zh-CN" altLang="en-US" sz="15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sym typeface="+mn-ea"/>
                </a:endParaRPr>
              </a:p>
              <a:p>
                <a:pPr algn="ctr"/>
                <a:endPara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  <a:p>
                <a:pPr algn="ctr"/>
                <a:endParaRPr lang="en-US" altLang="zh-CN" sz="1500" b="1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</a:endParaRPr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3843" y="11712"/>
                <a:ext cx="12000" cy="1160"/>
                <a:chOff x="3843" y="11712"/>
                <a:chExt cx="12000" cy="1160"/>
              </a:xfrm>
            </p:grpSpPr>
            <p:sp>
              <p:nvSpPr>
                <p:cNvPr id="55" name="矩形 54"/>
                <p:cNvSpPr/>
                <p:nvPr/>
              </p:nvSpPr>
              <p:spPr>
                <a:xfrm>
                  <a:off x="3843" y="11712"/>
                  <a:ext cx="5669" cy="116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500" b="1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Quality Guard</a:t>
                  </a:r>
                  <a:r>
                    <a:rPr lang="zh-CN" altLang="en-US" sz="1500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：</a:t>
                  </a:r>
                  <a:endPara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endParaRPr>
                </a:p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进行规则质量检查</a:t>
                  </a:r>
                  <a:endPara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10175" y="11712"/>
                  <a:ext cx="5669" cy="116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500" b="1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LLM Quality Reviewer</a:t>
                  </a:r>
                  <a:r>
                    <a:rPr lang="zh-CN" altLang="en-US" sz="1500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：</a:t>
                  </a:r>
                  <a:endPara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endParaRPr>
                </a:p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  <a:latin typeface="Times New Roman" panose="02020603050405020304" charset="0"/>
                      <a:ea typeface="微软雅黑" panose="020B0503020204020204" charset="-122"/>
                    </a:rPr>
                    <a:t>进行语义复审</a:t>
                  </a:r>
                  <a:endParaRPr lang="zh-CN" altLang="en-US" sz="1500">
                    <a:solidFill>
                      <a:schemeClr val="tx1"/>
                    </a:solidFill>
                    <a:latin typeface="Times New Roman" panose="02020603050405020304" charset="0"/>
                    <a:ea typeface="微软雅黑" panose="020B0503020204020204" charset="-122"/>
                  </a:endParaRPr>
                </a:p>
              </p:txBody>
            </p:sp>
            <p:cxnSp>
              <p:nvCxnSpPr>
                <p:cNvPr id="61" name="直接箭头连接符 60"/>
                <p:cNvCxnSpPr>
                  <a:stCxn id="55" idx="3"/>
                  <a:endCxn id="56" idx="1"/>
                </p:cNvCxnSpPr>
                <p:nvPr/>
              </p:nvCxnSpPr>
              <p:spPr>
                <a:xfrm>
                  <a:off x="9512" y="12293"/>
                  <a:ext cx="663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5" name="流程图: 磁盘 74"/>
            <p:cNvSpPr/>
            <p:nvPr/>
          </p:nvSpPr>
          <p:spPr>
            <a:xfrm>
              <a:off x="14185" y="5562"/>
              <a:ext cx="1943" cy="1058"/>
            </a:xfrm>
            <a:prstGeom prst="flowChartMagneticDisk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知识库</a:t>
              </a:r>
              <a:endParaRPr lang="zh-CN" altLang="en-US"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6" name="直接箭头连接符 75"/>
            <p:cNvCxnSpPr>
              <a:stCxn id="75" idx="2"/>
              <a:endCxn id="30" idx="3"/>
            </p:cNvCxnSpPr>
            <p:nvPr/>
          </p:nvCxnSpPr>
          <p:spPr>
            <a:xfrm flipH="1">
              <a:off x="12677" y="6091"/>
              <a:ext cx="150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肘形连接符 79"/>
            <p:cNvCxnSpPr>
              <a:stCxn id="56" idx="3"/>
              <a:endCxn id="78" idx="2"/>
            </p:cNvCxnSpPr>
            <p:nvPr/>
          </p:nvCxnSpPr>
          <p:spPr>
            <a:xfrm flipV="1">
              <a:off x="15843" y="10686"/>
              <a:ext cx="2376" cy="48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肘形连接符 80"/>
            <p:cNvCxnSpPr>
              <a:stCxn id="77" idx="0"/>
              <a:endCxn id="50" idx="3"/>
            </p:cNvCxnSpPr>
            <p:nvPr/>
          </p:nvCxnSpPr>
          <p:spPr>
            <a:xfrm rot="16200000" flipV="1">
              <a:off x="16824" y="7345"/>
              <a:ext cx="415" cy="2373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83" name="组合 82"/>
            <p:cNvGrpSpPr/>
            <p:nvPr/>
          </p:nvGrpSpPr>
          <p:grpSpPr>
            <a:xfrm>
              <a:off x="16981" y="8660"/>
              <a:ext cx="2041" cy="2025"/>
              <a:chOff x="16981" y="8660"/>
              <a:chExt cx="2041" cy="2025"/>
            </a:xfrm>
          </p:grpSpPr>
          <p:pic>
            <p:nvPicPr>
              <p:cNvPr id="77" name="图片 76" descr="文件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7498" y="8739"/>
                <a:ext cx="1440" cy="1440"/>
              </a:xfrm>
              <a:prstGeom prst="rect">
                <a:avLst/>
              </a:prstGeom>
            </p:spPr>
          </p:pic>
          <p:sp>
            <p:nvSpPr>
              <p:cNvPr id="78" name="文本框 77"/>
              <p:cNvSpPr txBox="1"/>
              <p:nvPr/>
            </p:nvSpPr>
            <p:spPr>
              <a:xfrm>
                <a:off x="17414" y="10179"/>
                <a:ext cx="1609" cy="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500" b="1"/>
                  <a:t>记忆文件</a:t>
                </a:r>
                <a:endParaRPr lang="zh-CN" altLang="en-US" sz="1500" b="1"/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16981" y="8660"/>
                <a:ext cx="517" cy="1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500"/>
                  <a:t>评审建议</a:t>
                </a:r>
                <a:endParaRPr lang="zh-CN" altLang="en-US" sz="1500"/>
              </a:p>
            </p:txBody>
          </p:sp>
        </p:grpSp>
        <p:sp>
          <p:nvSpPr>
            <p:cNvPr id="84" name="矩形 83"/>
            <p:cNvSpPr/>
            <p:nvPr/>
          </p:nvSpPr>
          <p:spPr>
            <a:xfrm>
              <a:off x="19849" y="263"/>
              <a:ext cx="1094" cy="79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Redis</a:t>
              </a:r>
              <a:endParaRPr lang="en-US" altLang="zh-CN" sz="15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5" name="直接箭头连接符 84"/>
            <p:cNvCxnSpPr>
              <a:endCxn id="14" idx="3"/>
            </p:cNvCxnSpPr>
            <p:nvPr/>
          </p:nvCxnSpPr>
          <p:spPr>
            <a:xfrm flipH="1" flipV="1">
              <a:off x="12677" y="3263"/>
              <a:ext cx="715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6" name="文本框 85"/>
            <p:cNvSpPr txBox="1"/>
            <p:nvPr/>
          </p:nvSpPr>
          <p:spPr>
            <a:xfrm>
              <a:off x="15660" y="3046"/>
              <a:ext cx="1556" cy="4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指标</a:t>
              </a:r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缓存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7" name="直接箭头连接符 86"/>
            <p:cNvCxnSpPr>
              <a:endCxn id="35" idx="3"/>
            </p:cNvCxnSpPr>
            <p:nvPr/>
          </p:nvCxnSpPr>
          <p:spPr>
            <a:xfrm flipH="1">
              <a:off x="16360" y="8056"/>
              <a:ext cx="34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8" name="文本框 87"/>
            <p:cNvSpPr txBox="1"/>
            <p:nvPr/>
          </p:nvSpPr>
          <p:spPr>
            <a:xfrm>
              <a:off x="17454" y="7824"/>
              <a:ext cx="1457" cy="4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历史报告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9" name="直接箭头连接符 88"/>
            <p:cNvCxnSpPr>
              <a:endCxn id="2" idx="3"/>
            </p:cNvCxnSpPr>
            <p:nvPr/>
          </p:nvCxnSpPr>
          <p:spPr>
            <a:xfrm flipH="1" flipV="1">
              <a:off x="12677" y="435"/>
              <a:ext cx="714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0" name="文本框 89"/>
            <p:cNvSpPr txBox="1"/>
            <p:nvPr/>
          </p:nvSpPr>
          <p:spPr>
            <a:xfrm>
              <a:off x="15404" y="209"/>
              <a:ext cx="2069" cy="43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仓库信息</a:t>
              </a:r>
              <a:r>
                <a:rPr lang="zh-CN" altLang="en-US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缓存</a:t>
              </a:r>
              <a:endParaRPr lang="zh-CN" altLang="en-US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50032351&quot;,&quot;origin&quot;:0,&quot;type&quot;:&quot;icons&quot;,&quot;user&quot;:&quot;594548642&quot;}"/>
</p:tagLst>
</file>

<file path=ppt/tags/tag2.xml><?xml version="1.0" encoding="utf-8"?>
<p:tagLst xmlns:p="http://schemas.openxmlformats.org/presentationml/2006/main">
  <p:tag name="resource_record_key" val="{&quot;10&quot;:[5003235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</Words>
  <Application>WPS 演示</Application>
  <PresentationFormat>宽屏</PresentationFormat>
  <Paragraphs>110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yihan wang</dc:creator>
  <cp:lastModifiedBy>wyh</cp:lastModifiedBy>
  <cp:revision>22</cp:revision>
  <dcterms:created xsi:type="dcterms:W3CDTF">2023-08-09T12:44:00Z</dcterms:created>
  <dcterms:modified xsi:type="dcterms:W3CDTF">2026-05-01T14:14:19Z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F36F92FE6229402AAAB36CA804DE0BEE_12</vt:lpwstr>
  </property>
</Properties>
</file>